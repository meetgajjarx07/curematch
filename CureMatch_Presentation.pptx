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75390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6E6E73"/>
                </a:solidFill>
                <a:latin typeface="Helvetica Neue"/>
              </a:rPr>
              <a:t>FINAL GROUP PRESENTATION ·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1" i="0" spc="-50">
                <a:solidFill>
                  <a:srgbClr val="1D1D1F"/>
                </a:solidFill>
                <a:latin typeface="Helvetica Neue"/>
              </a:rPr>
              <a:t>CureMatch.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6E6E73"/>
                </a:solidFill>
                <a:latin typeface="Helvetica Neue"/>
              </a:rPr>
              <a:t>Matching clinical trials with large language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548640" cy="36576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B3B41"/>
                </a:solidFill>
                <a:latin typeface="Helvetica Neue"/>
              </a:rPr>
              <a:t>Team of three  ·  one codebase  ·  65,081 real trials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6868B"/>
                </a:solidFill>
                <a:latin typeface="JetBrains Mono"/>
              </a:rPr>
              <a:t>[Person A]  ·  [Person B]  ·  [Person C]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TEAM +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5">
                <a:solidFill>
                  <a:srgbClr val="1D1D1F"/>
                </a:solidFill>
                <a:latin typeface="Helvetica Neue"/>
              </a:rPr>
              <a:t>Three people.</a:t>
            </a:r>
          </a:p>
          <a:p>
            <a:pPr algn="l">
              <a:lnSpc>
                <a:spcPct val="105000"/>
              </a:lnSpc>
            </a:pPr>
            <a:r>
              <a:rPr sz="4000" b="1" i="0" spc="-25">
                <a:solidFill>
                  <a:srgbClr val="1D1D1F"/>
                </a:solidFill>
                <a:latin typeface="Helvetica Neue"/>
              </a:rPr>
              <a:t>Three LLM contributions.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200400"/>
            <a:ext cx="288036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00400"/>
            <a:ext cx="2880360" cy="13716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15">
                <a:solidFill>
                  <a:srgbClr val="1D1D1F"/>
                </a:solidFill>
                <a:latin typeface="Helvetica Neue"/>
              </a:rPr>
              <a:t>Person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0690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Product · Chat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5720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Built the patient-facing chat agent and the match explainer. RAG grounding, streaming, refusal behavior.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200400"/>
            <a:ext cx="288036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3200400"/>
            <a:ext cx="2880360" cy="137160"/>
          </a:xfrm>
          <a:prstGeom prst="rect">
            <a:avLst/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15">
                <a:solidFill>
                  <a:srgbClr val="1D1D1F"/>
                </a:solidFill>
                <a:latin typeface="Helvetica Neue"/>
              </a:rPr>
              <a:t>Person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0690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BF5AF2"/>
                </a:solidFill>
                <a:latin typeface="Helvetica Neue"/>
              </a:rPr>
              <a:t>Data · Fine-Tune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5720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Built the 450-pair Q&amp;A dataset, trained a LoRA adapter on Llama 3.2 1B, evaluated before/after refusal.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79" y="3200400"/>
            <a:ext cx="288036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79" y="3200400"/>
            <a:ext cx="2880360" cy="137160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7999" y="35204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15">
                <a:solidFill>
                  <a:srgbClr val="1D1D1F"/>
                </a:solidFill>
                <a:latin typeface="Helvetica Neue"/>
              </a:rPr>
              <a:t>Person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7999" y="406908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FF9F0A"/>
                </a:solidFill>
                <a:latin typeface="Helvetica Neue"/>
              </a:rPr>
              <a:t>Pipeline · Matching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7999" y="4572000"/>
            <a:ext cx="2331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Built the rule-based parser, the deterministic scoring engine, and the condition-disambiguation that prevents false matches.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572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9144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80% of trials miss</a:t>
            </a:r>
          </a:p>
          <a:p>
            <a:pPr algn="l">
              <a:lnSpc>
                <a:spcPct val="10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their enrollment deadlines.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8686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Meanwhile 300,000 patients a year look for a trial and give up — because every trial publishes its eligibility as a wall of medical prose. There are 65,081 actively recruiting trials right now. No patient reads 65,081 trials.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577840"/>
            <a:ext cx="8686800" cy="59436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TYPICAL ELIGIBILITY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88736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ECOG 0–1 · eGFR ≥ 30 · no prior anti-PD-1 · no active autoimmune · HbA1c &lt; 10.5%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572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Read every trial, for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6E73"/>
                </a:solidFill>
                <a:latin typeface="Helvetica Neue"/>
              </a:rPr>
              <a:t>One profile. 65,081 trials screened. Ranked matches in seconds, with every criterion shown.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40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Enter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02920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Age · conditions · medications · lab values · location. 3 minutes. Stays in your browser.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Match instantly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502920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Scored against every actively-recruiting trial. Rule-based · deterministic · reproducible.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840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See the verdict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5029200"/>
            <a:ext cx="2286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Per-criterion breakdown. No black-box score. Every exclusion shown by name.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572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LIVE DEMO · HAPPY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9144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0" b="1" i="0" spc="-50">
                <a:solidFill>
                  <a:srgbClr val="FFFFFF"/>
                </a:solidFill>
                <a:latin typeface="Helvetica Neue"/>
              </a:rPr>
              <a:t>Let's see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931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41605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FFFFFF"/>
                </a:solidFill>
                <a:latin typeface="JetBrains Mono"/>
              </a:rPr>
              <a:t>localhost:3000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578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86868B"/>
                </a:solidFill>
                <a:latin typeface="Helvetica Neue"/>
              </a:rPr>
              <a:t>Demo flow:  T2 diabetes profile  →  /match  →  147 results  →  top trial  →  explain.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997FF"/>
                </a:solidFill>
                <a:latin typeface="Helvetica Neue"/>
              </a:rPr>
              <a:t>Hit the "Explain this match" button. Watch the LLM narrate the verdicts 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CORPUS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65,081 trials. All real.</a:t>
            </a:r>
          </a:p>
        </p:txBody>
      </p:sp>
      <p:pic>
        <p:nvPicPr>
          <p:cNvPr id="6" name="Picture 5" descr="phas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360"/>
            <a:ext cx="6016207" cy="4023360"/>
          </a:xfrm>
          <a:prstGeom prst="rect">
            <a:avLst/>
          </a:prstGeom>
        </p:spPr>
      </p:pic>
      <p:pic>
        <p:nvPicPr>
          <p:cNvPr id="7" name="Picture 6" descr="top_condi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37360"/>
            <a:ext cx="7076336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Phase distribution across actively-recruiting studies  ·  top 10 conditions by MeSH tag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RULE PARSER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 spc="-20">
                <a:solidFill>
                  <a:srgbClr val="1D1D1F"/>
                </a:solidFill>
                <a:latin typeface="Helvetica Neue"/>
              </a:rPr>
              <a:t>RxNorm + regex  →  86 seconds for 65k trials.</a:t>
            </a:r>
          </a:p>
        </p:txBody>
      </p:sp>
      <p:pic>
        <p:nvPicPr>
          <p:cNvPr id="6" name="Picture 5" descr="parser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9144000" cy="5257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463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The parser reads each trial's eligibility text and extracts structured fields — excluded medications, lab thresholds, ECOG ranges. Rules win on the narrow checks (~85% recall) and cost nothing to run. Compound criteria, negation, and paraphrase are where the LLM takes over — shown in two slides.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FINE-TUNE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LoRA on Llama 3.2 1B.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42062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29968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18">
                <a:solidFill>
                  <a:srgbClr val="BF5AF2"/>
                </a:solidFill>
                <a:latin typeface="JetBrains Mono"/>
              </a:rPr>
              <a:t>450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148840"/>
            <a:ext cx="2194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Q&amp;A pairs auto-generated from parser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52928"/>
            <a:ext cx="42062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962656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18">
                <a:solidFill>
                  <a:srgbClr val="BF5AF2"/>
                </a:solidFill>
                <a:latin typeface="JetBrains Mono"/>
              </a:rPr>
              <a:t>rank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3081528"/>
            <a:ext cx="2194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LoRA · 8M trainable params on 1B base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85616"/>
            <a:ext cx="42062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895344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18">
                <a:solidFill>
                  <a:srgbClr val="BF5AF2"/>
                </a:solidFill>
                <a:latin typeface="JetBrains Mono"/>
              </a:rPr>
              <a:t>3 epochs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4014216"/>
            <a:ext cx="2194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on a free Colab T4 · 40-min runtime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18304"/>
            <a:ext cx="42062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828032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spc="-18">
                <a:solidFill>
                  <a:srgbClr val="BF5AF2"/>
                </a:solidFill>
                <a:latin typeface="JetBrains Mono"/>
              </a:rP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946904"/>
            <a:ext cx="2194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cost · before/after eval on 50 holdouts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1920240"/>
            <a:ext cx="4480560" cy="347472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32004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[ run notebooks/finetune_curematch.ipynb →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  drop loss_curve.png into project root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Production uses base Llama 3.3 70B via Groq. The 1B fine-tune is our proof that parser-grounded training data improves refusal behavior.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DEMO #2 ·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The patient-facing chat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Llama 3.3 70B via Groq  ·  streams at ~500 tokens/sec  ·  grounded in the trial's eligibility text.</a:t>
            </a:r>
          </a:p>
        </p:txBody>
      </p:sp>
      <p:pic>
        <p:nvPicPr>
          <p:cNvPr id="7" name="Picture 6" descr="agent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5745779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0" y="2743200"/>
            <a:ext cx="4389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9260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SAMPLE EXCHANGE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D1D1F"/>
                </a:solidFill>
                <a:latin typeface="Helvetica Neue"/>
              </a:rPr>
              <a:t>"Can I join if I'm taking Warfarin?"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65760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F5AF2"/>
                </a:solidFill>
                <a:latin typeface="Helvetica Neue"/>
              </a:rPr>
              <a:t>→ The trial's eligibility lists anticoagulants in the exclusions, so you would not qualify while taking Warfarin.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4663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1">
                <a:solidFill>
                  <a:srgbClr val="1D1D1F"/>
                </a:solidFill>
                <a:latin typeface="Helvetica Neue"/>
              </a:rPr>
              <a:t>"What's the weather in Tokyo?"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07492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F9F0A"/>
                </a:solidFill>
                <a:latin typeface="Helvetica Neue"/>
              </a:rPr>
              <a:t>→ The trial's public information doesn't specify that — you'll want to ask the study team directly.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5720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DESIGN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LLMs for language.</a:t>
            </a:r>
          </a:p>
          <a:p>
            <a:pPr algn="l">
              <a:lnSpc>
                <a:spcPct val="105000"/>
              </a:lnSpc>
            </a:pPr>
            <a:r>
              <a:rPr sz="4600" b="1" i="0" spc="-28">
                <a:solidFill>
                  <a:srgbClr val="1D1D1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1">
                <a:solidFill>
                  <a:srgbClr val="6E6E73"/>
                </a:solidFill>
                <a:latin typeface="Helvetica Neue"/>
              </a:rPr>
              <a:t>Medical matching has to be deterministic. If someone asks "why was this patient excluded?" we need to point at a rule — not shrug.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937760"/>
            <a:ext cx="86868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AUDITABLE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49240"/>
            <a:ext cx="8229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-10">
                <a:solidFill>
                  <a:srgbClr val="1D1D1F"/>
                </a:solidFill>
                <a:latin typeface="JetBrains Mono"/>
              </a:rPr>
              <a:t>You (HbA1c 6.2)  →  Required (≥ 7.5)  →  excluded.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THE SCORING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Six criteria. One weighted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828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828800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Distinctive-word overlap. Generic terms ("disease") filtered 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9572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Medications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39572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95728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RxNorm lookup + drug-class map. Warfarin hits "anticoagulants."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98648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6265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Lab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9626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962656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HbA1c, eGFR, platelets, etc. vs trial's required range.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65576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5295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35295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529584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Parse min_age / max_age. In-range check.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032504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09651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Proximity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40965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4096512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Haversine to nearest study site vs searchRadius.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99432"/>
            <a:ext cx="8961120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6634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Gender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46634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9F0A"/>
                </a:solidFill>
                <a:latin typeface="JetBrains Mono"/>
              </a:rPr>
              <a:t>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663440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Trial sex vs patient gender. Pre-filter.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62356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1D1D1F"/>
                </a:solidFill>
                <a:latin typeface="Helvetica Neue"/>
              </a:rPr>
              <a:t>Same input → same output. Every time. Auditable per criterion.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WHERE LLMS EXPAND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Rules cover 33%. LLMs read the rest.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Compound criteria, negation, paraphrase — language that regex can't parse.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434340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4343400" cy="137160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97180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FF3B30"/>
                </a:solidFill>
                <a:latin typeface="Helvetica Neue"/>
              </a:rPr>
              <a:t>RULE PARSER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3756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D1F"/>
                </a:solidFill>
                <a:latin typeface="JetBrains Mono"/>
              </a:rPr>
              <a:t>{ missed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3886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Input: "creatinine clearance &gt; 60 mL/min, unless on chronic dialysis, in which case any value is acceptable"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Regex matched "creatinine &gt; 60" — missed the conditional. Dialysis patients would be incorrectly excluded.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2697480"/>
            <a:ext cx="4343400" cy="3383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3480" y="2697480"/>
            <a:ext cx="4343400" cy="137160"/>
          </a:xfrm>
          <a:prstGeom prst="rect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97180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30D158"/>
                </a:solidFill>
                <a:latin typeface="Helvetica Neue"/>
              </a:rPr>
              <a:t>LLM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337560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D1F"/>
                </a:solidFill>
                <a:latin typeface="JetBrains Mono"/>
              </a:rPr>
              <a:t>{ extracted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86200"/>
            <a:ext cx="38862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JetBrains Mono"/>
              </a:rPr>
              <a:t>lab: creatinine_clearance, min: 60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JetBrains Mono"/>
              </a:rPr>
              <a:t>override: { if: on_dialysis, ignore_threshold: true }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JetBrains Mon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JetBrains Mono"/>
              </a:rPr>
              <a:t>Same downstream scorer. Same determinism. But the LLM read what regex couldn't.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1463040" cy="256032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 spc="180">
                <a:solidFill>
                  <a:srgbClr val="FFFFFF"/>
                </a:solidFill>
                <a:latin typeface="Helvetica Neue"/>
              </a:rPr>
              <a:t>PERSON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657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6E6E73"/>
                </a:solidFill>
                <a:latin typeface="Helvetica Neue"/>
              </a:rPr>
              <a:t>RULES VS LLM · THE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Use each where each wins.</a:t>
            </a:r>
          </a:p>
        </p:txBody>
      </p:sp>
      <p:pic>
        <p:nvPicPr>
          <p:cNvPr id="6" name="Picture 5" descr="rules_vs_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8869680" cy="36571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Rules for narrow decisions. LLMs for messy prose. Wrong tool for wrong job = bad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 spc="-20">
                <a:solidFill>
                  <a:srgbClr val="1D1D1F"/>
                </a:solidFill>
                <a:latin typeface="JetBrains Mono"/>
              </a:rPr>
              <a:t>65,081  →  1,500  →  147  →  top 1.</a:t>
            </a:r>
          </a:p>
        </p:txBody>
      </p:sp>
      <p:pic>
        <p:nvPicPr>
          <p:cNvPr id="4" name="Picture 3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6851673" cy="4114800"/>
          </a:xfrm>
          <a:prstGeom prst="rect">
            <a:avLst/>
          </a:prstGeom>
        </p:spPr>
      </p:pic>
      <p:pic>
        <p:nvPicPr>
          <p:cNvPr id="5" name="Picture 4" descr="top_excluded_me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28800"/>
            <a:ext cx="735549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Left: SQL pre-filter → scoring → ranked matches.  Right: most-excluded medications across the corpus.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0071E3"/>
                </a:solidFill>
                <a:latin typeface="Helvetica Neue"/>
              </a:rPr>
              <a:t>WHAT WE SHIPPED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 spc="-25">
                <a:solidFill>
                  <a:srgbClr val="1D1D1F"/>
                </a:solidFill>
                <a:latin typeface="Helvetica Neue"/>
              </a:rPr>
              <a:t>In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65,081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11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indexed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7432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411,042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611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sites with lat/lng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4320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21,191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118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exclusion 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19,062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lab 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16052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86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full-corpus parse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60520"/>
            <a:ext cx="28346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 spc="-20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ongoing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6E6E73"/>
                </a:solidFill>
                <a:latin typeface="Helvetica Neue"/>
              </a:rPr>
              <a:t>Zero accounts · zero tracking · zero analytics · zero telemetry.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FF9F0A"/>
                </a:solidFill>
                <a:latin typeface="Helvetica Neue"/>
              </a:rPr>
              <a:t>WHAT'S NOT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 spc="-25">
                <a:solidFill>
                  <a:srgbClr val="1D1D1F"/>
                </a:solidFill>
                <a:latin typeface="Helvetica Neue"/>
              </a:rPr>
              <a:t>Limitations.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0604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Research prototype.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Not a medical device. Final eligibility is the trial investigators'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Parser coverage is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33% for medications, 29% for labs. That's why the LLM parser is the next step.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4340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LLM parser not yet in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72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Schema and source column are ready. We've run it on samples, not the full 65k.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12080"/>
            <a:ext cx="137160" cy="137160"/>
          </a:xfrm>
          <a:prstGeom prst="roundRect">
            <a:avLst>
              <a:gd name="adj" fmla="val 8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Formal evaluation pending.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Spot-check CSV sampled. No published F1 against hand-labeled ground truth yet.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i="0" spc="-28">
                <a:solidFill>
                  <a:srgbClr val="FFFFFF"/>
                </a:solidFill>
                <a:latin typeface="Helvetica Neue"/>
              </a:rPr>
              <a:t>LLMs for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i="0" spc="-28">
                <a:solidFill>
                  <a:srgbClr val="2997F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i="0" spc="-28">
                <a:solidFill>
                  <a:srgbClr val="BF5AF2"/>
                </a:solidFill>
                <a:latin typeface="Helvetica Neue"/>
              </a:rPr>
              <a:t>Humans verify.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297680"/>
            <a:ext cx="548640" cy="36576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CureMatch.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6868B"/>
                </a:solidFill>
                <a:latin typeface="JetBrains Mono"/>
              </a:rPr>
              <a:t>github.com/meetgajjarx07/curematch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C6C6CB"/>
                </a:solidFill>
                <a:latin typeface="Helvetica Neue"/>
              </a:rPr>
              <a:t>Thank you.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