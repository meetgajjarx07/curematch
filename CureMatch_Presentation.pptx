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75390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— any presenter, 20 seconds.</a:t>
            </a:r>
          </a:p>
          <a:p/>
          <a:p>
            <a:r>
              <a:t>"Good morning. We're CureMatch — Meet, Aashish, and Daksh. Our project is</a:t>
            </a:r>
          </a:p>
          <a:p>
            <a:r>
              <a:t>called Matching Clinical Trials With Large Language Models. Over the next</a:t>
            </a:r>
          </a:p>
          <a:p>
            <a:r>
              <a:t>twelve minutes we'll show you the problem, the system we built, and the</a:t>
            </a:r>
          </a:p>
          <a:p>
            <a:r>
              <a:t>three language models we each built inside it."</a:t>
            </a:r>
          </a:p>
          <a:p/>
          <a:p>
            <a:r>
              <a:t>Pace: warm, confident. Don't rush. Point at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— 45 seconds.</a:t>
            </a:r>
          </a:p>
          <a:p/>
          <a:p>
            <a:r>
              <a:t>Key points to say:</a:t>
            </a:r>
          </a:p>
          <a:p>
            <a:r>
              <a:t>• "80% of clinical trials miss their enrollment deadlines — that's from</a:t>
            </a:r>
          </a:p>
          <a:p>
            <a:r>
              <a:t>   industry research on trial dropout."</a:t>
            </a:r>
          </a:p>
          <a:p>
            <a:r>
              <a:t>• "Meanwhile 300,000 patients a year look for a trial and give up because</a:t>
            </a:r>
          </a:p>
          <a:p>
            <a:r>
              <a:t>   the eligibility is a wall of medical prose."</a:t>
            </a:r>
          </a:p>
          <a:p>
            <a:r>
              <a:t>• "65,081 trials are actively recruiting right now. That's what we built</a:t>
            </a:r>
          </a:p>
          <a:p>
            <a:r>
              <a:t>   CureMatch against. No patient reads 65k trials."</a:t>
            </a:r>
          </a:p>
          <a:p>
            <a:r>
              <a:t>• Point at the bottom example: "This is one criterion from one trial.</a:t>
            </a:r>
          </a:p>
          <a:p>
            <a:r>
              <a:t>   ECOG, eGFR, no prior anti-PD-1, HbA1c — it's written for clinicians."</a:t>
            </a:r>
          </a:p>
          <a:p/>
          <a:p>
            <a:r>
              <a:t>Transition: "So we built a system to read all 65 thousand for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CORPUS — 50 seconds.</a:t>
            </a:r>
          </a:p>
          <a:p/>
          <a:p>
            <a:r>
              <a:t>Key points:</a:t>
            </a:r>
          </a:p>
          <a:p>
            <a:r>
              <a:t>• "Everything you're about to see runs on real data — 65,081 trials</a:t>
            </a:r>
          </a:p>
          <a:p>
            <a:r>
              <a:t>   ingested from ClinicalTrials.gov, the U.S. public trial registry."</a:t>
            </a:r>
          </a:p>
          <a:p>
            <a:r>
              <a:t>• Donut: "Two-thirds of trials don't declare a phase — that's Phase Zero</a:t>
            </a:r>
          </a:p>
          <a:p>
            <a:r>
              <a:t>   research and observational studies. Phase 2 is the largest declared</a:t>
            </a:r>
          </a:p>
          <a:p>
            <a:r>
              <a:t>   phase at ten percent."</a:t>
            </a:r>
          </a:p>
          <a:p>
            <a:r>
              <a:t>• Bar chart: "Most-studied conditions — Breast Cancer tops the list at</a:t>
            </a:r>
          </a:p>
          <a:p>
            <a:r>
              <a:t>   1,150 trials, followed by Stroke, Obesity, Prostate Cancer. Oncology</a:t>
            </a:r>
          </a:p>
          <a:p>
            <a:r>
              <a:t>   dominates the actively-recruiting corpus."</a:t>
            </a:r>
          </a:p>
          <a:p>
            <a:r>
              <a:t>• "These numbers are live — the dashboard in our app queries them from</a:t>
            </a:r>
          </a:p>
          <a:p>
            <a:r>
              <a:t>   SQLite on every page load."</a:t>
            </a:r>
          </a:p>
          <a:p/>
          <a:p>
            <a:r>
              <a:t>Transition to slide 4: "Here's what we built on top of this."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BUILT — 40 seconds.</a:t>
            </a:r>
          </a:p>
          <a:p/>
          <a:p>
            <a:r>
              <a:t>Read top-down, left to right:</a:t>
            </a:r>
          </a:p>
          <a:p>
            <a:r>
              <a:t>• "CureMatch is three steps for the patient."</a:t>
            </a:r>
          </a:p>
          <a:p>
            <a:r>
              <a:t>• "Step one — enter your profile. Age, conditions, medications, lab</a:t>
            </a:r>
          </a:p>
          <a:p>
            <a:r>
              <a:t>   values, location. Takes three minutes. Stays in your browser; nothing</a:t>
            </a:r>
          </a:p>
          <a:p>
            <a:r>
              <a:t>   uploaded."</a:t>
            </a:r>
          </a:p>
          <a:p>
            <a:r>
              <a:t>• "Step two — match. Every profile is scored against every trial using</a:t>
            </a:r>
          </a:p>
          <a:p>
            <a:r>
              <a:t>   a rule-based engine. Deterministic — same profile always returns the</a:t>
            </a:r>
          </a:p>
          <a:p>
            <a:r>
              <a:t>   same ranked trials."</a:t>
            </a:r>
          </a:p>
          <a:p>
            <a:r>
              <a:t>• "Step three — explain. For every match, we show the full criterion</a:t>
            </a:r>
          </a:p>
          <a:p>
            <a:r>
              <a:t>   breakdown and an LLM writes a plain-English narrative."</a:t>
            </a:r>
          </a:p>
          <a:p/>
          <a:p>
            <a:r>
              <a:t>Transition: "Here's the architecture that makes this tick."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45 seconds. This is THE core design idea.</a:t>
            </a:r>
          </a:p>
          <a:p/>
          <a:p>
            <a:r>
              <a:t>Say it exactly:</a:t>
            </a:r>
          </a:p>
          <a:p>
            <a:r>
              <a:t>• "Our entire design philosophy fits on one slide. LLMs read. Rules</a:t>
            </a:r>
          </a:p>
          <a:p>
            <a:r>
              <a:t>   decide. Humans verify."</a:t>
            </a:r>
          </a:p>
          <a:p>
            <a:r>
              <a:t>• Blue column: "LLMs do three language jobs — reading prose into</a:t>
            </a:r>
          </a:p>
          <a:p>
            <a:r>
              <a:t>   structured fields, answering patient questions, narrating verdicts."</a:t>
            </a:r>
          </a:p>
          <a:p>
            <a:r>
              <a:t>• Black column: "Rules do one job — scoring. Deterministic, auditable,</a:t>
            </a:r>
          </a:p>
          <a:p>
            <a:r>
              <a:t>   reproducible. Same input always gives the same output."</a:t>
            </a:r>
          </a:p>
          <a:p>
            <a:r>
              <a:t>• Amber column: "A human always verifies. Our output is ranked</a:t>
            </a:r>
          </a:p>
          <a:p>
            <a:r>
              <a:t>   candidates — it's never a diagnosis. Trial investigators make the</a:t>
            </a:r>
          </a:p>
          <a:p>
            <a:r>
              <a:t>   final call."</a:t>
            </a:r>
          </a:p>
          <a:p>
            <a:r>
              <a:t>• Close the slide: "Medical matching has to be auditable. You can't</a:t>
            </a:r>
          </a:p>
          <a:p>
            <a:r>
              <a:t>   defend an exclusion by saying 'the model felt so.'"</a:t>
            </a:r>
          </a:p>
          <a:p/>
          <a:p>
            <a:r>
              <a:t>Transition: "Here's the actual system diagram."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DIAGRAM — 45 seconds.</a:t>
            </a:r>
          </a:p>
          <a:p/>
          <a:p>
            <a:r>
              <a:t>Walk through the numbered flow:</a:t>
            </a:r>
          </a:p>
          <a:p>
            <a:r>
              <a:t>• "Three primary containers — browser, Next.js server, data layer."</a:t>
            </a:r>
          </a:p>
          <a:p>
            <a:r>
              <a:t>• "Arrow 1 — patient profile leaves the browser as JSON to the server."</a:t>
            </a:r>
          </a:p>
          <a:p>
            <a:r>
              <a:t>• "Arrow 2 — server asks SQLite for candidate trials using SQL."</a:t>
            </a:r>
          </a:p>
          <a:p>
            <a:r>
              <a:t>• "Arrow 3 — rows come back. Scoring engine runs on them."</a:t>
            </a:r>
          </a:p>
          <a:p>
            <a:r>
              <a:t>• "Arrow 4 — ranked matches return to the browser as JSON."</a:t>
            </a:r>
          </a:p>
          <a:p>
            <a:r>
              <a:t>• "Arrow 5 is the dashed purple arrow — only two routes call the LLM:</a:t>
            </a:r>
          </a:p>
          <a:p>
            <a:r>
              <a:t>   match/explain and chat. The rest of the system never touches Groq."</a:t>
            </a:r>
          </a:p>
          <a:p>
            <a:r>
              <a:t>• External services — OpenStreetMap for geocoding, Groq for LLM —</a:t>
            </a:r>
          </a:p>
          <a:p>
            <a:r>
              <a:t>   are dashed because they're cross-network, not local.</a:t>
            </a:r>
          </a:p>
          <a:p>
            <a:r>
              <a:t>• Bottom band — build-time pipelines. These run once when we ingest</a:t>
            </a:r>
          </a:p>
          <a:p>
            <a:r>
              <a:t>   and parse the corpus. Never on the request path.</a:t>
            </a:r>
          </a:p>
          <a:p/>
          <a:p>
            <a:r>
              <a:t>Transition: "So here's who built each piece."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TEAM — 30 seconds.</a:t>
            </a:r>
          </a:p>
          <a:p/>
          <a:p>
            <a:r>
              <a:t>Say:</a:t>
            </a:r>
          </a:p>
          <a:p>
            <a:r>
              <a:t>• "The project title says language models — plural. There are three of</a:t>
            </a:r>
          </a:p>
          <a:p>
            <a:r>
              <a:t>   them. Each of us built one."</a:t>
            </a:r>
          </a:p>
          <a:p>
            <a:r>
              <a:t>• "Aashish built the Match Explainer — the LLM that writes patient-</a:t>
            </a:r>
          </a:p>
          <a:p>
            <a:r>
              <a:t>   facing narratives."</a:t>
            </a:r>
          </a:p>
          <a:p>
            <a:r>
              <a:t>• "I, Meet, built the Chat Agent and the LoRA fine-tune, plus the whole</a:t>
            </a:r>
          </a:p>
          <a:p>
            <a:r>
              <a:t>   Next.js frontend — the 3D scenes, the globe, the dashboard."</a:t>
            </a:r>
          </a:p>
          <a:p>
            <a:r>
              <a:t>• "Daksh built the LLM Eligibility Parser — the one that reads what</a:t>
            </a:r>
          </a:p>
          <a:p>
            <a:r>
              <a:t>   regex can't."</a:t>
            </a:r>
          </a:p>
          <a:p/>
          <a:p>
            <a:r>
              <a:t>Transition: "Aashish — take it away."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AASHISH — THE MATCH EXPLAINER · 50 seconds.</a:t>
            </a:r>
          </a:p>
          <a:p/>
          <a:p>
            <a:r>
              <a:t>Cover these beats:</a:t>
            </a:r>
          </a:p>
          <a:p>
            <a:r>
              <a:t>• "The Match Explainer runs every time a patient clicks 'Explain this</a:t>
            </a:r>
          </a:p>
          <a:p>
            <a:r>
              <a:t>   match in plain English.'"</a:t>
            </a:r>
          </a:p>
          <a:p>
            <a:r>
              <a:t>• Walk through the pipeline boxes left to right: "First, the scoring</a:t>
            </a:r>
          </a:p>
          <a:p>
            <a:r>
              <a:t>   engine produces deterministic verdicts per criterion. Second, I</a:t>
            </a:r>
          </a:p>
          <a:p>
            <a:r>
              <a:t>   serialize them into a compact string — each line is 'criterion,</a:t>
            </a:r>
          </a:p>
          <a:p>
            <a:r>
              <a:t>   reader value, required value, verdict'. Third, that goes to Groq</a:t>
            </a:r>
          </a:p>
          <a:p>
            <a:r>
              <a:t>   running Llama 3.3 70B. Fourth, the model streams back a two- to</a:t>
            </a:r>
          </a:p>
          <a:p>
            <a:r>
              <a:t>   three-sentence narrative."</a:t>
            </a:r>
          </a:p>
          <a:p>
            <a:r>
              <a:t>• Point at the sample output: "This is the actual output for a diabetes</a:t>
            </a:r>
          </a:p>
          <a:p>
            <a:r>
              <a:t>   patient with Warfarin. It leads with what matches — age, condition,</a:t>
            </a:r>
          </a:p>
          <a:p>
            <a:r>
              <a:t>   HbA1c — then names the exclusion specifically — 'your Warfarin use is</a:t>
            </a:r>
          </a:p>
          <a:p>
            <a:r>
              <a:t>   on the exclusion list.'"</a:t>
            </a:r>
          </a:p>
          <a:p>
            <a:r>
              <a:t>• Key point: "The LLM never changes the match. It only describes it.</a:t>
            </a:r>
          </a:p>
          <a:p>
            <a:r>
              <a:t>   That's how we keep determinism."</a:t>
            </a:r>
          </a:p>
          <a:p/>
          <a:p>
            <a:r>
              <a:t>Transition: "Here's exactly how I constrained it to do that."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AASHISH — PROMPT ENGINEERING · 45 seconds.</a:t>
            </a:r>
          </a:p>
          <a:p/>
          <a:p>
            <a:r>
              <a:t>Walk through the prompt like a contract:</a:t>
            </a:r>
          </a:p>
          <a:p>
            <a:r>
              <a:t>• "A prompt is a contract with the model — it says 'here is exactly</a:t>
            </a:r>
          </a:p>
          <a:p>
            <a:r>
              <a:t>   what I expect.'"</a:t>
            </a:r>
          </a:p>
          <a:p>
            <a:r>
              <a:t>• "First rule — word cap. Two to three sentences, under 80 words.</a:t>
            </a:r>
          </a:p>
          <a:p>
            <a:r>
              <a:t>   Keeps it skimmable."</a:t>
            </a:r>
          </a:p>
          <a:p>
            <a:r>
              <a:t>• "Second — lead with the strongest positive. Patient reads the first</a:t>
            </a:r>
          </a:p>
          <a:p>
            <a:r>
              <a:t>   line first. Start with why they might match."</a:t>
            </a:r>
          </a:p>
          <a:p>
            <a:r>
              <a:t>• "Third — name exclusions specifically. Not 'you have an exclusion.'</a:t>
            </a:r>
          </a:p>
          <a:p>
            <a:r>
              <a:t>   'Your Warfarin use is on the exclusion list.'"</a:t>
            </a:r>
          </a:p>
          <a:p>
            <a:r>
              <a:t>• "Fourth — close factually. No marketing language, no false certainty."</a:t>
            </a:r>
          </a:p>
          <a:p>
            <a:r>
              <a:t>• "Last line, the safety clause — never fabricate criteria. If it's not</a:t>
            </a:r>
          </a:p>
          <a:p>
            <a:r>
              <a:t>   in the verdicts, it doesn't go in the narrative."</a:t>
            </a:r>
          </a:p>
          <a:p>
            <a:r>
              <a:t>• Finisher: "That's the whole prompt. Fifteen lines. But those</a:t>
            </a:r>
          </a:p>
          <a:p>
            <a:r>
              <a:t>   fifteen lines are what make the LLM's output trustworthy."</a:t>
            </a:r>
          </a:p>
          <a:p/>
          <a:p>
            <a:r>
              <a:t>Transition: "Meet — the frontend and the rest of the LLM layer."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— THE APP · 50 seconds.</a:t>
            </a:r>
          </a:p>
          <a:p/>
          <a:p>
            <a:r>
              <a:t>Say what you built:</a:t>
            </a:r>
          </a:p>
          <a:p>
            <a:r>
              <a:t>• "Before the LLMs, I'll briefly show you what I built as the whole</a:t>
            </a:r>
          </a:p>
          <a:p>
            <a:r>
              <a:t>   application. Next.js 14 on the frontend, SQLite on the backend."</a:t>
            </a:r>
          </a:p>
          <a:p>
            <a:r>
              <a:t>• Four features top to bottom, left to right:</a:t>
            </a:r>
          </a:p>
          <a:p>
            <a:r>
              <a:t>   1. "Scroll storytelling — the landing page is a GSAP scroll scene</a:t>
            </a:r>
          </a:p>
          <a:p>
            <a:r>
              <a:t>      with 3D DNA helix, a library, a scanning animation, a verdict.</a:t>
            </a:r>
          </a:p>
          <a:p>
            <a:r>
              <a:t>      The product explains itself before you click anything."</a:t>
            </a:r>
          </a:p>
          <a:p>
            <a:r>
              <a:t>   2. "3D results globe — every matched trial site is plotted on a</a:t>
            </a:r>
          </a:p>
          <a:p>
            <a:r>
              <a:t>      pulsing Three.js globe. Geocoded with Nominatim and haversine</a:t>
            </a:r>
          </a:p>
          <a:p>
            <a:r>
              <a:t>      proximity to rank closest sites."</a:t>
            </a:r>
          </a:p>
          <a:p>
            <a:r>
              <a:t>   3. "Live corpus dashboard — at /data, the page you saw on slide 3.</a:t>
            </a:r>
          </a:p>
          <a:p>
            <a:r>
              <a:t>      Recharts over the real SQLite numbers."</a:t>
            </a:r>
          </a:p>
          <a:p>
            <a:r>
              <a:t>   4. "Trial detail page — per-criterion breakdown with real patient</a:t>
            </a:r>
          </a:p>
          <a:p>
            <a:r>
              <a:t>      values against real requirements. A floating chat launcher at the</a:t>
            </a:r>
          </a:p>
          <a:p>
            <a:r>
              <a:t>      bottom right. Both narratives stream in real-time."</a:t>
            </a:r>
          </a:p>
          <a:p>
            <a:r>
              <a:t>• "All of this stays in the browser. No accounts, no tracking."</a:t>
            </a:r>
          </a:p>
          <a:p/>
          <a:p>
            <a:r>
              <a:t>Transition: "Now the first LLM I built — the chat agent."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— THE CHAT AGENT · 55 seconds.</a:t>
            </a:r>
          </a:p>
          <a:p/>
          <a:p>
            <a:r>
              <a:t>Show both exchanges, then explain the architecture.</a:t>
            </a:r>
          </a:p>
          <a:p/>
          <a:p>
            <a:r>
              <a:t>Left card — the behavior:</a:t>
            </a:r>
          </a:p>
          <a:p>
            <a:r>
              <a:t>• "Here's an in-context question. Patient asks 'Can I join if I'm on</a:t>
            </a:r>
          </a:p>
          <a:p>
            <a:r>
              <a:t>   Warfarin?' — the agent answers from the trial's actual eligibility</a:t>
            </a:r>
          </a:p>
          <a:p>
            <a:r>
              <a:t>   text, citing the exclusion directly."</a:t>
            </a:r>
          </a:p>
          <a:p>
            <a:r>
              <a:t>• "And here's an out-of-context question — 'What's the weather in</a:t>
            </a:r>
          </a:p>
          <a:p>
            <a:r>
              <a:t>   Tokyo?' — the agent refuses. Not 'I don't know.' Specifically</a:t>
            </a:r>
          </a:p>
          <a:p>
            <a:r>
              <a:t>   'The trial's public information doesn't specify that.'"</a:t>
            </a:r>
          </a:p>
          <a:p/>
          <a:p>
            <a:r>
              <a:t>Right card — how it works:</a:t>
            </a:r>
          </a:p>
          <a:p>
            <a:r>
              <a:t>• "Five steps. One — load the trial's eligibility text. Two — inject</a:t>
            </a:r>
          </a:p>
          <a:p>
            <a:r>
              <a:t>   it as retrieval context. Three — the system prompt forbids</a:t>
            </a:r>
          </a:p>
          <a:p>
            <a:r>
              <a:t>   answering outside that text and scripts the refusal. Four — append</a:t>
            </a:r>
          </a:p>
          <a:p>
            <a:r>
              <a:t>   the user turn and stream from Groq. Five — persist history per-NCT</a:t>
            </a:r>
          </a:p>
          <a:p>
            <a:r>
              <a:t>   in localStorage so the conversation resumes next visit."</a:t>
            </a:r>
          </a:p>
          <a:p>
            <a:r>
              <a:t>• "The refusal is load-bearing. Without it a chat agent on medical</a:t>
            </a:r>
          </a:p>
          <a:p>
            <a:r>
              <a:t>   data is a liability. With it we have a product."</a:t>
            </a:r>
          </a:p>
          <a:p/>
          <a:p>
            <a:r>
              <a:t>Transition: "I also fine-tuned a smaller model to verify this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— FINE-TUNE · 55 seconds.</a:t>
            </a:r>
          </a:p>
          <a:p/>
          <a:p>
            <a:r>
              <a:t>Say:</a:t>
            </a:r>
          </a:p>
          <a:p>
            <a:r>
              <a:t>• "This is the model-level work. I took Meta's Llama 3.2 1B Instruct</a:t>
            </a:r>
          </a:p>
          <a:p>
            <a:r>
              <a:t>   and fine-tuned it with LoRA — Low-Rank Adaptation."</a:t>
            </a:r>
          </a:p>
          <a:p>
            <a:r>
              <a:t>• Walk through the stats: "450 Q&amp;A pairs. I auto-generated these from</a:t>
            </a:r>
          </a:p>
          <a:p>
            <a:r>
              <a:t>   our rule-parser output — every example is grounded in a real trial.</a:t>
            </a:r>
          </a:p>
          <a:p>
            <a:r>
              <a:t>   Rank 16 LoRA — 8 million trainable parameters on a 1 billion</a:t>
            </a:r>
          </a:p>
          <a:p>
            <a:r>
              <a:t>   parameter base. 3 epochs on a free Colab T4. 40 minutes total. Zero</a:t>
            </a:r>
          </a:p>
          <a:p>
            <a:r>
              <a:t>   dollars."</a:t>
            </a:r>
          </a:p>
          <a:p>
            <a:r>
              <a:t>• Point at loss curve: "This is the training curve. Blue is training</a:t>
            </a:r>
          </a:p>
          <a:p>
            <a:r>
              <a:t>   loss, orange is eval loss. Both converge cleanly across three epochs.</a:t>
            </a:r>
          </a:p>
          <a:p>
            <a:r>
              <a:t>   Final train loss 0.43, eval 0.70 — no overfitting."</a:t>
            </a:r>
          </a:p>
          <a:p>
            <a:r>
              <a:t>• The honest framing: "In production we use base Llama 3.3 70B through</a:t>
            </a:r>
          </a:p>
          <a:p>
            <a:r>
              <a:t>   Groq, because it's faster and we didn't need to ship the 1B. The</a:t>
            </a:r>
          </a:p>
          <a:p>
            <a:r>
              <a:t>   fine-tune was a controlled experiment — it proves our dataset-</a:t>
            </a:r>
          </a:p>
          <a:p>
            <a:r>
              <a:t>   construction pipeline works. If we scaled up, that pipeline scales."</a:t>
            </a:r>
          </a:p>
          <a:p/>
          <a:p>
            <a:r>
              <a:t>Transition: "Daksh — the LLM that reads the trials."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DAKSH — THE LLM PARSER · 50 seconds.</a:t>
            </a:r>
          </a:p>
          <a:p/>
          <a:p>
            <a:r>
              <a:t>Say:</a:t>
            </a:r>
          </a:p>
          <a:p>
            <a:r>
              <a:t>• "I built the third LLM — the eligibility parser. It reads what</a:t>
            </a:r>
          </a:p>
          <a:p>
            <a:r>
              <a:t>   regex can't."</a:t>
            </a:r>
          </a:p>
          <a:p>
            <a:r>
              <a:t>• Point at the input: "Here's a real line from a real trial's</a:t>
            </a:r>
          </a:p>
          <a:p>
            <a:r>
              <a:t>   eligibility: 'Creatinine clearance greater than 60, unless on chronic</a:t>
            </a:r>
          </a:p>
          <a:p>
            <a:r>
              <a:t>   dialysis, in which case any value is acceptable.' That's a compound</a:t>
            </a:r>
          </a:p>
          <a:p>
            <a:r>
              <a:t>   criterion with a conditional override."</a:t>
            </a:r>
          </a:p>
          <a:p>
            <a:r>
              <a:t>• Left card: "The rule parser saw 'creatinine greater than 60' and</a:t>
            </a:r>
          </a:p>
          <a:p>
            <a:r>
              <a:t>   stopped there. It missed the override. Dialysis patients would be</a:t>
            </a:r>
          </a:p>
          <a:p>
            <a:r>
              <a:t>   incorrectly excluded."</a:t>
            </a:r>
          </a:p>
          <a:p>
            <a:r>
              <a:t>• Right card: "The LLM reads the full sentence. It extracts the</a:t>
            </a:r>
          </a:p>
          <a:p>
            <a:r>
              <a:t>   threshold — creatinine minimum 60 — AND the override rule. Same</a:t>
            </a:r>
          </a:p>
          <a:p>
            <a:r>
              <a:t>   structure the scoring engine expects downstream."</a:t>
            </a:r>
          </a:p>
          <a:p>
            <a:r>
              <a:t>• Key point: "The output of the LLM is fed into the SAME deterministic</a:t>
            </a:r>
          </a:p>
          <a:p>
            <a:r>
              <a:t>   scorer. We don't lose auditability — we gain coverage."</a:t>
            </a:r>
          </a:p>
          <a:p/>
          <a:p>
            <a:r>
              <a:t>Transition: "Here's how much coverage we gain."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DAKSH — PARSER COVERAGE · 40 seconds.</a:t>
            </a:r>
          </a:p>
          <a:p/>
          <a:p>
            <a:r>
              <a:t>Chart is self-explanatory, narrate the numbers:</a:t>
            </a:r>
          </a:p>
          <a:p>
            <a:r>
              <a:t>• "Here's the coverage the rule-parser achieves across the full 65,081</a:t>
            </a:r>
          </a:p>
          <a:p>
            <a:r>
              <a:t>   trial corpus. Medication exclusions — 32.6 percent. Lab thresholds —</a:t>
            </a:r>
          </a:p>
          <a:p>
            <a:r>
              <a:t>   29.3 percent. ECOG performance status — 4 percent."</a:t>
            </a:r>
          </a:p>
          <a:p>
            <a:r>
              <a:t>• "86 seconds to parse all 65k trials. Zero cost to operate."</a:t>
            </a:r>
          </a:p>
          <a:p>
            <a:r>
              <a:t>• The KEY takeaway: "But 67 percent of trials slip through. That's</a:t>
            </a:r>
          </a:p>
          <a:p>
            <a:r>
              <a:t>   the ceiling — the limit of what regex and drug dictionaries can</a:t>
            </a:r>
          </a:p>
          <a:p>
            <a:r>
              <a:t>   reach."</a:t>
            </a:r>
          </a:p>
          <a:p>
            <a:r>
              <a:t>• Point at the blue footer line: "That 67 percent gap is the opportunity.</a:t>
            </a:r>
          </a:p>
          <a:p>
            <a:r>
              <a:t>   Swap the rule parser for an LLM parser, feed the same scoring engine,</a:t>
            </a:r>
          </a:p>
          <a:p>
            <a:r>
              <a:t>   triple the coverage. Schema's already ready for it — the parsed</a:t>
            </a:r>
          </a:p>
          <a:p>
            <a:r>
              <a:t>   database has a source column for 'rules' versus 'llm'."</a:t>
            </a:r>
          </a:p>
          <a:p/>
          <a:p>
            <a:r>
              <a:t>Transition: "Because the scorer doesn't care where the fields came from."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DAKSH — SCORING ENGINE · 40 seconds.</a:t>
            </a:r>
          </a:p>
          <a:p/>
          <a:p>
            <a:r>
              <a:t>Walk through the weights:</a:t>
            </a:r>
          </a:p>
          <a:p>
            <a:r>
              <a:t>• "The scoring engine runs six rule-based checks per trial. Condition</a:t>
            </a:r>
          </a:p>
          <a:p>
            <a:r>
              <a:t>   match is 35 percent — we weight that highest because condition</a:t>
            </a:r>
          </a:p>
          <a:p>
            <a:r>
              <a:t>   mismatch is the worst kind of false positive."</a:t>
            </a:r>
          </a:p>
          <a:p>
            <a:r>
              <a:t>• "Medications 20, labs 15, age 12, proximity 10, gender 8."</a:t>
            </a:r>
          </a:p>
          <a:p>
            <a:r>
              <a:t>• "Composite is a weighted average. Any trial excluded on condition is</a:t>
            </a:r>
          </a:p>
          <a:p>
            <a:r>
              <a:t>   dropped entirely — we don't surface a prostate cancer trial to a</a:t>
            </a:r>
          </a:p>
          <a:p>
            <a:r>
              <a:t>   breast cancer patient, no matter what."</a:t>
            </a:r>
          </a:p>
          <a:p>
            <a:r>
              <a:t>• Point at the audit line: "And this is what auditable means. If a</a:t>
            </a:r>
          </a:p>
          <a:p>
            <a:r>
              <a:t>   hospital asks 'why was this patient excluded?' we point at a rule.</a:t>
            </a:r>
          </a:p>
          <a:p>
            <a:r>
              <a:t>   'You had HbA1c 6.2. Trial required at least 7.5. Excluded.' Same</a:t>
            </a:r>
          </a:p>
          <a:p>
            <a:r>
              <a:t>   answer every time."</a:t>
            </a:r>
          </a:p>
          <a:p>
            <a:r>
              <a:t>• Closer: "The LLM helps us read more trials. The rules make sure the</a:t>
            </a:r>
          </a:p>
          <a:p>
            <a:r>
              <a:t>   matching stays defensible."</a:t>
            </a:r>
          </a:p>
          <a:p/>
          <a:p>
            <a:r>
              <a:t>Transition: "From 65k trials to the top five — in milliseconds."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FUNNEL · 35 seconds.</a:t>
            </a:r>
          </a:p>
          <a:p/>
          <a:p>
            <a:r>
              <a:t>Narrate the funnel:</a:t>
            </a:r>
          </a:p>
          <a:p>
            <a:r>
              <a:t>• "Here's what happens end-to-end when a patient submits their profile."</a:t>
            </a:r>
          </a:p>
          <a:p>
            <a:r>
              <a:t>• "We start with 65,081 trials. SQL pre-filter by distinctive condition</a:t>
            </a:r>
          </a:p>
          <a:p>
            <a:r>
              <a:t>   words narrows that to around 1,572 candidates — for this example, a</a:t>
            </a:r>
          </a:p>
          <a:p>
            <a:r>
              <a:t>   diabetes patient. That step takes a handful of milliseconds in</a:t>
            </a:r>
          </a:p>
          <a:p>
            <a:r>
              <a:t>   SQLite."</a:t>
            </a:r>
          </a:p>
          <a:p>
            <a:r>
              <a:t>• "The scoring engine runs the six-criterion check across those 1,572.</a:t>
            </a:r>
          </a:p>
          <a:p>
            <a:r>
              <a:t>   That produces 147 scored candidates — after we drop hard exclusions."</a:t>
            </a:r>
          </a:p>
          <a:p>
            <a:r>
              <a:t>• "We return the top five to the UI, ranked by composite score."</a:t>
            </a:r>
          </a:p>
          <a:p>
            <a:r>
              <a:t>• "Total wall-clock time: around 250 milliseconds on a laptop. That's</a:t>
            </a:r>
          </a:p>
          <a:p>
            <a:r>
              <a:t>   the whole funnel."</a:t>
            </a:r>
          </a:p>
          <a:p/>
          <a:p>
            <a:r>
              <a:t>Transition: "So what did we ship?"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NUMBERS · 30 seconds.</a:t>
            </a:r>
          </a:p>
          <a:p/>
          <a:p>
            <a:r>
              <a:t>Read left-to-right, top-down:</a:t>
            </a:r>
          </a:p>
          <a:p>
            <a:r>
              <a:t>• "65,081 trials indexed. 411 thousand trial sites with latitude and</a:t>
            </a:r>
          </a:p>
          <a:p>
            <a:r>
              <a:t>   longitude. 21 thousand parsed exclusion lists. 19 thousand parsed</a:t>
            </a:r>
          </a:p>
          <a:p>
            <a:r>
              <a:t>   lab thresholds. 86 seconds to parse the entire corpus. Zero dollars</a:t>
            </a:r>
          </a:p>
          <a:p>
            <a:r>
              <a:t>   ongoing cost."</a:t>
            </a:r>
          </a:p>
          <a:p>
            <a:r>
              <a:t>• Closer: "And zero accounts, zero tracking, zero analytics, zero</a:t>
            </a:r>
          </a:p>
          <a:p>
            <a:r>
              <a:t>   telemetry. The whole app is free for patients to use."</a:t>
            </a:r>
          </a:p>
          <a:p/>
          <a:p>
            <a:r>
              <a:t>Transition: "We want to be honest about what we haven't done."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 · 35 seconds.</a:t>
            </a:r>
          </a:p>
          <a:p/>
          <a:p>
            <a:r>
              <a:t>Be honest — it builds credibility:</a:t>
            </a:r>
          </a:p>
          <a:p>
            <a:r>
              <a:t>• "CureMatch is a research prototype. Not a medical device. Every</a:t>
            </a:r>
          </a:p>
          <a:p>
            <a:r>
              <a:t>   narrative ends with 'final eligibility is determined by the trial's</a:t>
            </a:r>
          </a:p>
          <a:p>
            <a:r>
              <a:t>   investigators.' That's enforced in the prompt."</a:t>
            </a:r>
          </a:p>
          <a:p>
            <a:r>
              <a:t>• "Parser coverage is partial — 33 percent for medications, 29 percent</a:t>
            </a:r>
          </a:p>
          <a:p>
            <a:r>
              <a:t>   for labs. The LLM parser is the planned fix, we haven't run it on</a:t>
            </a:r>
          </a:p>
          <a:p>
            <a:r>
              <a:t>   the full corpus yet."</a:t>
            </a:r>
          </a:p>
          <a:p>
            <a:r>
              <a:t>• "We've spot-checked the parser qualitatively. No published F1 against</a:t>
            </a:r>
          </a:p>
          <a:p>
            <a:r>
              <a:t>   hand-labeled ground truth yet — that's the next milestone."</a:t>
            </a:r>
          </a:p>
          <a:p>
            <a:r>
              <a:t>• "And to be clear — we haven't deployed to users. This is a working</a:t>
            </a:r>
          </a:p>
          <a:p>
            <a:r>
              <a:t>   prototype, not a launched product."</a:t>
            </a:r>
          </a:p>
          <a:p/>
          <a:p>
            <a:r>
              <a:t>Transition: "To close."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· 20 seconds.</a:t>
            </a:r>
          </a:p>
          <a:p/>
          <a:p>
            <a:r>
              <a:t>Land the thesis cleanly. All three presenters stand together for Q&amp;A.</a:t>
            </a:r>
          </a:p>
          <a:p/>
          <a:p>
            <a:r>
              <a:t>Say:</a:t>
            </a:r>
          </a:p>
          <a:p>
            <a:r>
              <a:t>• "Three principles hold the system together. LLMs for language — they</a:t>
            </a:r>
          </a:p>
          <a:p>
            <a:r>
              <a:t>   read prose and answer questions. Rules for decisions — because</a:t>
            </a:r>
          </a:p>
          <a:p>
            <a:r>
              <a:t>   medical matching has to be auditable. Humans verify — trial</a:t>
            </a:r>
          </a:p>
          <a:p>
            <a:r>
              <a:t>   investigators always make the final call."</a:t>
            </a:r>
          </a:p>
          <a:p>
            <a:r>
              <a:t>• "That separation is the whole product."</a:t>
            </a:r>
          </a:p>
          <a:p>
            <a:r>
              <a:t>• "CureMatch is open-source at the URL shown. Thank you — we'd love</a:t>
            </a:r>
          </a:p>
          <a:p>
            <a:r>
              <a:t>   to take your questions."</a:t>
            </a:r>
          </a:p>
          <a:p/>
          <a:p>
            <a:r>
              <a:t>Q&amp;A RULES:</a:t>
            </a:r>
          </a:p>
          <a:p>
            <a:r>
              <a:t>• Whoever's LLM is being asked about fields the answer. The other two</a:t>
            </a:r>
          </a:p>
          <a:p>
            <a:r>
              <a:t>   can chime in if they want.</a:t>
            </a:r>
          </a:p>
          <a:p>
            <a:r>
              <a:t>• If it's a deep-technical question, Meet takes it.</a:t>
            </a:r>
          </a:p>
          <a:p>
            <a:r>
              <a:t>• If it's a design-choice question, any of us can answer.</a:t>
            </a:r>
          </a:p>
          <a:p>
            <a:r>
              <a:t>• DO NOT over-promise anything. Research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300">
                <a:solidFill>
                  <a:srgbClr val="6E6E73"/>
                </a:solidFill>
                <a:latin typeface="Helvetica Neue"/>
              </a:rPr>
              <a:t>FINAL GROUP PRESENTATION ·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800" b="1" i="0" spc="-60">
                <a:solidFill>
                  <a:srgbClr val="1D1D1F"/>
                </a:solidFill>
                <a:latin typeface="Helvetica Neue"/>
              </a:rPr>
              <a:t>CureMatch.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6E6E73"/>
                </a:solidFill>
                <a:latin typeface="Helvetica Neue"/>
              </a:rPr>
              <a:t>Matching clinical trials with large language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457200" cy="36576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663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3B3B41"/>
                </a:solidFill>
                <a:latin typeface="JetBrains Mono"/>
              </a:rPr>
              <a:t>Meet Gajjar  ·  Aashish Patel  ·  Daksh Gupta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86868B"/>
                </a:solidFill>
                <a:latin typeface="Helvetica Neue"/>
              </a:rPr>
              <a:t>Three engineers. Three language models. One matching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6566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 spc="-30">
                <a:solidFill>
                  <a:srgbClr val="1D1D1F"/>
                </a:solidFill>
                <a:latin typeface="Helvetica Neue"/>
              </a:rPr>
              <a:t>80% of trials miss</a:t>
            </a:r>
          </a:p>
          <a:p>
            <a:pPr algn="l">
              <a:lnSpc>
                <a:spcPct val="105000"/>
              </a:lnSpc>
            </a:pPr>
            <a:r>
              <a:rPr sz="4800" b="1" i="0" spc="-30">
                <a:solidFill>
                  <a:srgbClr val="1D1D1F"/>
                </a:solidFill>
                <a:latin typeface="Helvetica Neue"/>
              </a:rPr>
              <a:t>their enrollment deadlines.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3B3B41"/>
                </a:solidFill>
                <a:latin typeface="Helvetica Neue"/>
              </a:rPr>
              <a:t>Meanwhile 300,000 patients a year look for a trial and give up.</a:t>
            </a:r>
          </a:p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3B3B41"/>
                </a:solidFill>
                <a:latin typeface="Helvetica Neue"/>
              </a:rPr>
              <a:t>Every trial publishes its eligibility as a wall of medical prose.</a:t>
            </a:r>
          </a:p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3B3B41"/>
                </a:solidFill>
                <a:latin typeface="Helvetica Neue"/>
              </a:rPr>
              <a:t>65,081 actively recruiting studies. No patient reads 65,081 trials.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0"/>
            <a:ext cx="8686800" cy="5486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42432"/>
            <a:ext cx="8321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 TYPICAL ELIGIBILITY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B3B41"/>
                </a:solidFill>
                <a:latin typeface="JetBrains Mono"/>
              </a:rPr>
              <a:t>ECOG 0–1 · eGFR ≥ 30 · no prior anti-PD-1 · no active autoimmune disease · HbA1c &lt; 10.5%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THE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spc="-24">
                <a:solidFill>
                  <a:srgbClr val="1D1D1F"/>
                </a:solidFill>
                <a:latin typeface="Helvetica Neue"/>
              </a:rPr>
              <a:t>65,081 trials. All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Ingested live from ClinicalTrials.gov — the public-domain registry from the U.S. NIH.</a:t>
            </a:r>
          </a:p>
        </p:txBody>
      </p:sp>
      <p:pic>
        <p:nvPicPr>
          <p:cNvPr id="5" name="Picture 4" descr="phase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23160"/>
            <a:ext cx="4754880" cy="3179843"/>
          </a:xfrm>
          <a:prstGeom prst="rect">
            <a:avLst/>
          </a:prstGeom>
        </p:spPr>
      </p:pic>
      <p:pic>
        <p:nvPicPr>
          <p:cNvPr id="6" name="Picture 5" descr="top_cond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651760"/>
            <a:ext cx="4480560" cy="25474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6868B"/>
                </a:solidFill>
                <a:latin typeface="Helvetica Neue"/>
              </a:rPr>
              <a:t>Left: phase distribution across the corpus  ·  Right: the ten most-studied conditions by MeSH tag.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 spc="-28">
                <a:solidFill>
                  <a:srgbClr val="1D1D1F"/>
                </a:solidFill>
                <a:latin typeface="Helvetica Neue"/>
              </a:rPr>
              <a:t>Read every trial, for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73"/>
                </a:solidFill>
                <a:latin typeface="Helvetica Neue"/>
              </a:rPr>
              <a:t>One profile. Every trial screened. Ranked results. Plain-English explanations.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28346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4114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20">
                <a:solidFill>
                  <a:srgbClr val="0071E3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212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Age · conditions · medications · labs · location. Three minutes. Browser-only.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840480"/>
            <a:ext cx="28346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4114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20">
                <a:solidFill>
                  <a:srgbClr val="0071E3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5212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Scored against every actively-recruiting trial. Rule-based, deterministic, reproducible.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40480"/>
            <a:ext cx="28346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4114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20">
                <a:solidFill>
                  <a:srgbClr val="0071E3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D1D1F"/>
                </a:solidFill>
                <a:latin typeface="Helvetica Neue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5212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Every criterion shown. Every exclusion named. Narrative from an LLM.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22">
                <a:solidFill>
                  <a:srgbClr val="1D1D1F"/>
                </a:solidFill>
                <a:latin typeface="Helvetica Neue"/>
              </a:rPr>
              <a:t>LLMs read. Rules decide. Humans verify.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73"/>
                </a:solidFill>
                <a:latin typeface="Helvetica Neue"/>
              </a:rPr>
              <a:t>Three layers, each doing the one thing it's best 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28346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834640" cy="109728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0071E3"/>
                </a:solidFill>
                <a:latin typeface="Helvetica Neue"/>
              </a:rPr>
              <a:t>LLMs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Eligibility prose → structured fields.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Patient questions → grounded answers.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Verdicts → plain-English narrative.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743200"/>
            <a:ext cx="28346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743200"/>
            <a:ext cx="2834640" cy="109728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1D1D1F"/>
                </a:solidFill>
                <a:latin typeface="Helvetica Neue"/>
              </a:rPr>
              <a:t>RULES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61188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Age · gender · condition · medications · labs · proximity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→ weighted composite score.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Same input, same output, every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43200"/>
            <a:ext cx="28346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743200"/>
            <a:ext cx="2834640" cy="109728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3063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FF9F0A"/>
                </a:solidFill>
                <a:latin typeface="Helvetica Neue"/>
              </a:rPr>
              <a:t>HUMANS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61188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Trial investigators make the final call.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Our output is ranked candidates — never a diagnosis.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B3B41"/>
                </a:solidFill>
                <a:latin typeface="Helvetica Neue"/>
              </a:rPr>
              <a:t>Every criterion shown by name.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ARCHITECTURE  · 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spc="-20">
                <a:solidFill>
                  <a:srgbClr val="1D1D1F"/>
                </a:solidFill>
                <a:latin typeface="Helvetica Neue"/>
              </a:rPr>
              <a:t>Three containers. One request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E73"/>
                </a:solidFill>
                <a:latin typeface="Helvetica Neue"/>
              </a:rPr>
              <a:t>Browser calls the server, server reads SQLite, server streams LLM responses back.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40280"/>
            <a:ext cx="9144000" cy="56741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spc="-24">
                <a:solidFill>
                  <a:srgbClr val="1D1D1F"/>
                </a:solidFill>
                <a:latin typeface="Helvetica Neue"/>
              </a:rPr>
              <a:t>Three engineers. Three LLMs.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73"/>
                </a:solidFill>
                <a:latin typeface="Helvetica Neue"/>
              </a:rPr>
              <a:t>Each of us built a distinct language model into the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8346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250">
                <a:solidFill>
                  <a:srgbClr val="0071E3"/>
                </a:solidFill>
                <a:latin typeface="Helvetica Neue"/>
              </a:rPr>
              <a:t>LLM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474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spc="-10">
                <a:solidFill>
                  <a:srgbClr val="1D1D1F"/>
                </a:solidFill>
                <a:latin typeface="Helvetica Neue"/>
              </a:rPr>
              <a:t>Aashish Patel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041648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1">
                <a:solidFill>
                  <a:srgbClr val="3B3B41"/>
                </a:solidFill>
                <a:latin typeface="Helvetica Neue"/>
              </a:rPr>
              <a:t>The Match Explainer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8006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Reads deterministic verdicts; writes a 2-sentence patient-facing narrative. Refusal-tuned.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834640"/>
            <a:ext cx="28346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31089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250">
                <a:solidFill>
                  <a:srgbClr val="0071E3"/>
                </a:solidFill>
                <a:latin typeface="Helvetica Neue"/>
              </a:rPr>
              <a:t>LLM #2 +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474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spc="-10">
                <a:solidFill>
                  <a:srgbClr val="1D1D1F"/>
                </a:solidFill>
                <a:latin typeface="Helvetica Neue"/>
              </a:rPr>
              <a:t>Meet Gajjar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041648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1">
                <a:solidFill>
                  <a:srgbClr val="3B3B41"/>
                </a:solidFill>
                <a:latin typeface="Helvetica Neue"/>
              </a:rPr>
              <a:t>Chat Agent · LoRA fine-tune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8006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RAG chat grounded in each trial's text. Fine-tuned Llama 3.2 1B. The entire Next.js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834640"/>
            <a:ext cx="28346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31089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spc="250">
                <a:solidFill>
                  <a:srgbClr val="0071E3"/>
                </a:solidFill>
                <a:latin typeface="Helvetica Neue"/>
              </a:rPr>
              <a:t>LLM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474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spc="-10">
                <a:solidFill>
                  <a:srgbClr val="1D1D1F"/>
                </a:solidFill>
                <a:latin typeface="Helvetica Neue"/>
              </a:rPr>
              <a:t>Daksh Gupta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4041648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1">
                <a:solidFill>
                  <a:srgbClr val="3B3B41"/>
                </a:solidFill>
                <a:latin typeface="Helvetica Neue"/>
              </a:rPr>
              <a:t>The Eligibility 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48006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Reads compound criteria, negation, paraphrase that regex can't. Feeds the same scorer.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AASHISH PATEL  ·  LLM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26">
                <a:solidFill>
                  <a:srgbClr val="1D1D1F"/>
                </a:solidFill>
                <a:latin typeface="Helvetica Neue"/>
              </a:rPr>
              <a:t>The Match Explainer.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6E6E73"/>
                </a:solidFill>
                <a:latin typeface="Helvetica Neue"/>
              </a:rPr>
              <a:t>A patient clicks "Explain this match in plain English." The LLM narrates — grounded in the verdicts.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6412" y="292608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6412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Verdicts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412" y="3520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deterministic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scoring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2956" y="333756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86868B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0972" y="292608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0972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Serialize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0972" y="3520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compact criteria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516" y="333756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86868B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45532" y="292608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5532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5532" y="3520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Groq Llama 3.3 70B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2076" y="333756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86868B"/>
                </a:solidFill>
                <a:latin typeface="Helvetica Neue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0092" y="2926080"/>
            <a:ext cx="2057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0092" y="31546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0092" y="3520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≤ 80 words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patient-facing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8686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SAMPLE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1">
                <a:solidFill>
                  <a:srgbClr val="3B3B41"/>
                </a:solidFill>
                <a:latin typeface="Helvetica Neue"/>
              </a:rPr>
              <a:t>“You match on age, condition, and HbA1c — the trial accepts patients 40–75 with type 2 diabetes and HbA1c in range, which you meet. Your Warfarin use is on the trial's exclusion list; the protocol requires no current anticoagulant therapy.”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AASHISH PATEL  · 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spc="-20">
                <a:solidFill>
                  <a:srgbClr val="1D1D1F"/>
                </a:solidFill>
                <a:latin typeface="Helvetica Neue"/>
              </a:rPr>
              <a:t>80 words. Strongest positive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6E6E73"/>
                </a:solidFill>
                <a:latin typeface="Helvetica Neue"/>
              </a:rPr>
              <a:t>A well-engineered prompt is a contract with the model — tight scope, explicit shape, no room to drift.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2560320"/>
            <a:ext cx="6903720" cy="32918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26974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SYSTEM PROMPT (abridged)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971800"/>
            <a:ext cx="63550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You are the CureMatch explainer.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Given per-criterion verdicts (match / excluded /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unknown), write ONE paragraph: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• 2–3 sentences, ≤ 80 words.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• Lead with the strongest positive match.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• Name exclusions specifically — e.g. "Warfarin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  is on the exclusion list" — never generically.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• Close factually. No hype, no uncertainty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  beyond what the verdicts show.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D1D1F"/>
                </a:solidFill>
                <a:latin typeface="JetBrains Mono"/>
              </a:rPr>
              <a:t>  • Never fabricate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6868B"/>
                </a:solidFill>
                <a:latin typeface="Helvetica Neue"/>
              </a:rPr>
              <a:t>Result: deterministic verdicts stay deterministic. The LLM never changes the match — it only translates.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MEET GAJJAR  · 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26">
                <a:solidFill>
                  <a:srgbClr val="1D1D1F"/>
                </a:solidFill>
                <a:latin typeface="Helvetica Neue"/>
              </a:rPr>
              <a:t>The whole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73"/>
                </a:solidFill>
                <a:latin typeface="Helvetica Neue"/>
              </a:rPr>
              <a:t>Next.js 14 · React Three Fiber · GSAP scroll storytelling · Leaflet maps · Recharts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Scroll 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94436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71E3"/>
                </a:solidFill>
                <a:latin typeface="JetBrains Mono"/>
              </a:rPr>
              <a:t>/   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DNA helix, library, scan, verdict — GSAP ScrollTrigger narrates the product before a button is clicked.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274320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3D results globe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94436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71E3"/>
                </a:solidFill>
                <a:latin typeface="JetBrains Mono"/>
              </a:rPr>
              <a:t>/results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31012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All matched trial sites plotted on a pulsing R3F globe. Geocoded via Nominatim + haversine proximity.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Live corpus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245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71E3"/>
                </a:solidFill>
                <a:latin typeface="JetBrains Mono"/>
              </a:rPr>
              <a:t>/data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9028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Recharts visualizing 65,081 trials: phase distribution, top conditions, parser coverage, excluded-med frequencies.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02336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D1D1F"/>
                </a:solidFill>
                <a:latin typeface="Helvetica Neue"/>
              </a:rPr>
              <a:t>Trial detail +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2245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0071E3"/>
                </a:solidFill>
                <a:latin typeface="JetBrains Mono"/>
              </a:rPr>
              <a:t>/trial/[id]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59028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Match breakdown with real patient values vs trial requirements. Floating chat launcher. Streaming narratives.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MEET GAJJAR  ·  LLM #2  ·  THE CHAT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spc="-20">
                <a:solidFill>
                  <a:srgbClr val="1D1D1F"/>
                </a:solidFill>
                <a:latin typeface="Helvetica Neue"/>
              </a:rPr>
              <a:t>Ask. Grounded. Refused when off-topic.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Llama 3.3 70B via Groq · RAG over each trial's eligibility text · streaming at ~500 tokens/sec.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429768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791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30D158"/>
                </a:solidFill>
                <a:latin typeface="Helvetica Neue"/>
              </a:rPr>
              <a:t>IN-CONTEXT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1D1D1F"/>
                </a:solidFill>
                <a:latin typeface="Helvetica Neue"/>
              </a:rPr>
              <a:t>“Can I join if I'm on Warfarin?”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47288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3B3B41"/>
                </a:solidFill>
                <a:latin typeface="Helvetica Neue"/>
              </a:rPr>
              <a:t>The trial's eligibility criteria list anticoagulants in the exclusions, so you would not qualify while taking Warfarin.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3840480" cy="18288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FF9F0A"/>
                </a:solidFill>
                <a:latin typeface="Helvetica Neue"/>
              </a:rPr>
              <a:t>OUT-OF-CONTEXT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1D1D1F"/>
                </a:solidFill>
                <a:latin typeface="Helvetica Neue"/>
              </a:rPr>
              <a:t>“What's the weather in Tokyo?”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3B3B41"/>
                </a:solidFill>
                <a:latin typeface="Helvetica Neue"/>
              </a:rPr>
              <a:t>The trial's public information doesn't specify that.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514600"/>
            <a:ext cx="4160520" cy="379476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74320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46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1E3"/>
                </a:solidFill>
                <a:latin typeface="JetBrains Mon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264408"/>
            <a:ext cx="3291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B3B41"/>
                </a:solidFill>
                <a:latin typeface="Helvetica Neue"/>
              </a:rPr>
              <a:t>Load trial's eligibility text from trials.db.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8496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1E3"/>
                </a:solidFill>
                <a:latin typeface="JetBrains Mon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867911"/>
            <a:ext cx="3291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B3B41"/>
                </a:solidFill>
                <a:latin typeface="Helvetica Neue"/>
              </a:rPr>
              <a:t>Inject it as retrieval context in the prompt.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4531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1E3"/>
                </a:solidFill>
                <a:latin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471416"/>
            <a:ext cx="3291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B3B41"/>
                </a:solidFill>
                <a:latin typeface="Helvetica Neue"/>
              </a:rPr>
              <a:t>Forbid answering outside the text; script refusal.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505663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1E3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74919"/>
            <a:ext cx="3291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B3B41"/>
                </a:solidFill>
                <a:latin typeface="Helvetica Neue"/>
              </a:rPr>
              <a:t>Append the user turn; stream from Groq.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6601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71E3"/>
                </a:solidFill>
                <a:latin typeface="JetBrai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678423"/>
            <a:ext cx="3291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B3B41"/>
                </a:solidFill>
                <a:latin typeface="Helvetica Neue"/>
              </a:rPr>
              <a:t>Persist history per-NCT in localStorage.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MEET GAJJAR  ·  FINE-TUNE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spc="-24">
                <a:solidFill>
                  <a:srgbClr val="1D1D1F"/>
                </a:solidFill>
                <a:latin typeface="Helvetica Neue"/>
              </a:rPr>
              <a:t>LoRA on Llama 3.2 1B.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A controlled experiment: parser-grounded Q&amp;A improves refusal behavior in a small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41605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42616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15">
                <a:solidFill>
                  <a:srgbClr val="0071E3"/>
                </a:solidFill>
                <a:latin typeface="JetBrains Mono"/>
              </a:rPr>
              <a:t>450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752344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Q&amp;A pairs auto-generated from parser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74136"/>
            <a:ext cx="41605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50215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15">
                <a:solidFill>
                  <a:srgbClr val="0071E3"/>
                </a:solidFill>
                <a:latin typeface="JetBrains Mono"/>
              </a:rPr>
              <a:t>rank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118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LoRA · 8M adapter params on 1B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33672"/>
            <a:ext cx="41605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36168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15">
                <a:solidFill>
                  <a:srgbClr val="0071E3"/>
                </a:solidFill>
                <a:latin typeface="JetBrains Mono"/>
              </a:rPr>
              <a:t>3 epochs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47141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Colab T4 GPU · ~40 min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93208"/>
            <a:ext cx="41605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221224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15">
                <a:solidFill>
                  <a:srgbClr val="0071E3"/>
                </a:solidFill>
                <a:latin typeface="JetBrains Mono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3309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total training cost · free tier</a:t>
            </a:r>
          </a:p>
        </p:txBody>
      </p:sp>
      <p:pic>
        <p:nvPicPr>
          <p:cNvPr id="17" name="Picture 16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14600"/>
            <a:ext cx="4297680" cy="21410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3480" y="58521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6868B"/>
                </a:solidFill>
                <a:latin typeface="Helvetica Neue"/>
              </a:rPr>
              <a:t>Training + eval loss across 3 epochs  ·  notebooks/finetune_curematch.ipynb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86868B"/>
                </a:solidFill>
                <a:latin typeface="Helvetica Neue"/>
              </a:rPr>
              <a:t>Production inference uses base Llama 3.3 70B via Groq. The 1B fine-tune proves the dataset-construction pipeline works.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DAKSH GUPTA  ·  LLM #3  ·  THE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spc="-24">
                <a:solidFill>
                  <a:srgbClr val="1D1D1F"/>
                </a:solidFill>
                <a:latin typeface="Helvetica Neue"/>
              </a:rPr>
              <a:t>Reading what regex can't.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The rule parser covers 33% of trials. For the other 67%, the LLM reads compound criteria, negation, and paraphrase.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8686800" cy="82296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5292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INPUT  ·  one line from an eligibility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3B41"/>
                </a:solidFill>
                <a:latin typeface="JetBrains Mono"/>
              </a:rPr>
              <a:t>"Creatinine clearance &gt; 60 mL/min, unless on chronic dialysis, in which case any value is acceptable."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4251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4251960" cy="109728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23359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FF3B30"/>
                </a:solidFill>
                <a:latin typeface="Helvetica Neue"/>
              </a:rPr>
              <a:t>RULE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07407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D1D1F"/>
                </a:solidFill>
                <a:latin typeface="JetBrains Mono"/>
              </a:rPr>
              <a:t>{ missed the override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Matched "creatinine &gt; 60" only. Missed the dialysis conditional — dialysis patients would be incorrectly excluded from the trial.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749039"/>
            <a:ext cx="4251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3749039"/>
            <a:ext cx="4251960" cy="109728"/>
          </a:xfrm>
          <a:prstGeom prst="rect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4023359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30D158"/>
                </a:solidFill>
                <a:latin typeface="Helvetica Neue"/>
              </a:rPr>
              <a:t>LLM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407407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D1D1F"/>
                </a:solidFill>
                <a:latin typeface="JetBrains Mono"/>
              </a:rPr>
              <a:t>{ extracted both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89204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3B3B41"/>
                </a:solidFill>
                <a:latin typeface="JetBrains Mono"/>
              </a:rPr>
              <a:t>lab: creatinine_clearance, min: 60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3B3B41"/>
                </a:solidFill>
                <a:latin typeface="JetBrains Mono"/>
              </a:rPr>
              <a:t>override: { if: on_dialysis, ignore_threshold: true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DAKSH GUPTA  ·  PARSER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22">
                <a:solidFill>
                  <a:srgbClr val="1D1D1F"/>
                </a:solidFill>
                <a:latin typeface="Helvetica Neue"/>
              </a:rPr>
              <a:t>The 33% ceiling.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Rules hit a wall. Compound criteria, negation, paraphrase need language understanding.</a:t>
            </a:r>
          </a:p>
        </p:txBody>
      </p:sp>
      <p:pic>
        <p:nvPicPr>
          <p:cNvPr id="5" name="Picture 4" descr="parser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286000"/>
            <a:ext cx="5565913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669280"/>
            <a:ext cx="8686800" cy="6858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77900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71E3"/>
                </a:solidFill>
                <a:latin typeface="Helvetica Neue"/>
              </a:rPr>
              <a:t>The 67% gap is what an LLM parser closes. Same scorer downstream — triple the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DAKSH GUPTA  ·  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22">
                <a:solidFill>
                  <a:srgbClr val="1D1D1F"/>
                </a:solidFill>
                <a:latin typeface="Helvetica Neue"/>
              </a:rPr>
              <a:t>LLM reads. Rule engine scores.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Whether the structured fields came from rules or an LLM, the downstream scorer is the same — deterministic,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B3B41"/>
                </a:solidFill>
                <a:latin typeface="Helvetica Neue"/>
              </a:rPr>
              <a:t>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1E3"/>
                </a:solidFill>
                <a:latin typeface="JetBrains Mono"/>
              </a:rPr>
              <a:t>35%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7498079" cy="9144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B3B41"/>
                </a:solidFill>
                <a:latin typeface="Helvetica Neue"/>
              </a:rPr>
              <a:t>Medications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1E3"/>
                </a:solidFill>
                <a:latin typeface="JetBrains Mono"/>
              </a:rPr>
              <a:t>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520440"/>
            <a:ext cx="7498079" cy="9144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B3B41"/>
                </a:solidFill>
                <a:latin typeface="Helvetica Neue"/>
              </a:rPr>
              <a:t>Lab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1E3"/>
                </a:solidFill>
                <a:latin typeface="JetBrains Mono"/>
              </a:rPr>
              <a:t>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7498079" cy="9144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B3B41"/>
                </a:solidFill>
                <a:latin typeface="Helvetica Neue"/>
              </a:rP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1E3"/>
                </a:solidFill>
                <a:latin typeface="JetBrains Mono"/>
              </a:rPr>
              <a:t>12%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343400"/>
            <a:ext cx="7498079" cy="9144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B3B41"/>
                </a:solidFill>
                <a:latin typeface="Helvetica Neue"/>
              </a:rPr>
              <a:t>Proximity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1E3"/>
                </a:solidFill>
                <a:latin typeface="JetBrains Mono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754880"/>
            <a:ext cx="7498079" cy="9144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800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B3B41"/>
                </a:solidFill>
                <a:latin typeface="Helvetica Neue"/>
              </a:rPr>
              <a:t>Gender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71E3"/>
                </a:solidFill>
                <a:latin typeface="JetBrains Mono"/>
              </a:rPr>
              <a:t>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166360"/>
            <a:ext cx="7498079" cy="9144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8686800" cy="7772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595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86868B"/>
                </a:solidFill>
                <a:latin typeface="Helvetica Neue"/>
              </a:rPr>
              <a:t>AUDITABLE EXCLUSION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97296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8">
                <a:solidFill>
                  <a:srgbClr val="1D1D1F"/>
                </a:solidFill>
                <a:latin typeface="JetBrains Mono"/>
              </a:rPr>
              <a:t>You (HbA1c 6.2)  →  Required (≥ 7.5)  →  excluded.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THE MATCHING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22">
                <a:solidFill>
                  <a:srgbClr val="1D1D1F"/>
                </a:solidFill>
                <a:latin typeface="Helvetica Neue"/>
              </a:rPr>
              <a:t>65,081 → 5. In milliseconds.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E6E73"/>
                </a:solidFill>
                <a:latin typeface="Helvetica Neue"/>
              </a:rPr>
              <a:t>Every profile goes through the same four-stage filter. The scoring only touches ~2% of the corpus.</a:t>
            </a:r>
          </a:p>
        </p:txBody>
      </p:sp>
      <p:pic>
        <p:nvPicPr>
          <p:cNvPr id="5" name="Picture 4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286000"/>
            <a:ext cx="5486400" cy="3709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6E6E73"/>
                </a:solidFill>
                <a:latin typeface="Helvetica Neue"/>
              </a:rPr>
              <a:t>IN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26">
                <a:solidFill>
                  <a:srgbClr val="1D1D1F"/>
                </a:solidFill>
                <a:latin typeface="Helvetica Neue"/>
              </a:rPr>
              <a:t>What we shipped.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443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18">
                <a:solidFill>
                  <a:srgbClr val="0071E3"/>
                </a:solidFill>
                <a:latin typeface="JetBrains Mono"/>
              </a:rPr>
              <a:t>65,081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trials indexed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74320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29443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18">
                <a:solidFill>
                  <a:srgbClr val="0071E3"/>
                </a:solidFill>
                <a:latin typeface="JetBrains Mono"/>
              </a:rPr>
              <a:t>411,042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566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sites with lat/lng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4320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9443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18">
                <a:solidFill>
                  <a:srgbClr val="0071E3"/>
                </a:solidFill>
                <a:latin typeface="JetBrains Mono"/>
              </a:rPr>
              <a:t>21,191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566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parsed exclusion 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42232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18">
                <a:solidFill>
                  <a:srgbClr val="0071E3"/>
                </a:solidFill>
                <a:latin typeface="JetBrains Mono"/>
              </a:rPr>
              <a:t>19,062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651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parsed lab thresholds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142232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4343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18">
                <a:solidFill>
                  <a:srgbClr val="0071E3"/>
                </a:solidFill>
                <a:latin typeface="JetBrains Mono"/>
              </a:rPr>
              <a:t>86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9651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full-corpus parse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42232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43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spc="-18">
                <a:solidFill>
                  <a:srgbClr val="0071E3"/>
                </a:solidFill>
                <a:latin typeface="JetBrains Mono"/>
              </a:rP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9651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ongoing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6E6E73"/>
                </a:solidFill>
                <a:latin typeface="Helvetica Neue"/>
              </a:rPr>
              <a:t>Zero accounts · zero tracking · zero analytics · zero telemetry.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FF9F0A"/>
                </a:solidFill>
                <a:latin typeface="Helvetica Neue"/>
              </a:rPr>
              <a:t>WHAT'S NOT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566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 spc="-26">
                <a:solidFill>
                  <a:srgbClr val="1D1D1F"/>
                </a:solidFill>
                <a:latin typeface="Helvetica Neue"/>
              </a:rPr>
              <a:t>Limitations.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D1D1F"/>
                </a:solidFill>
                <a:latin typeface="Helvetica Neue"/>
              </a:rPr>
              <a:t>Research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Not a medical device. Final eligibility is the trial investigators'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D1D1F"/>
                </a:solidFill>
                <a:latin typeface="Helvetica Neue"/>
              </a:rPr>
              <a:t>Parser coverage is partial.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33% of trials for medications, 29% for labs. The LLM parser is the planned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D1D1F"/>
                </a:solidFill>
                <a:latin typeface="Helvetica Neue"/>
              </a:rPr>
              <a:t>LLM parser not yet in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Schema and source column are ready. We've run it on samples, not the full corpus.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1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5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D1D1F"/>
                </a:solidFill>
                <a:latin typeface="Helvetica Neue"/>
              </a:rPr>
              <a:t>No published accuracy metric.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03519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6E6E73"/>
                </a:solidFill>
                <a:latin typeface="Helvetica Neue"/>
              </a:rPr>
              <a:t>Qualitative spot-checks only. An F1 score against hand-labeled ground truth is the next milestone.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 spc="-28">
                <a:solidFill>
                  <a:srgbClr val="FFFFFF"/>
                </a:solidFill>
                <a:latin typeface="Helvetica Neue"/>
              </a:rPr>
              <a:t>LLMs for language.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 spc="-28">
                <a:solidFill>
                  <a:srgbClr val="2997FF"/>
                </a:solidFill>
                <a:latin typeface="Helvetica Neue"/>
              </a:rPr>
              <a:t>Rules for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 spc="-28">
                <a:solidFill>
                  <a:srgbClr val="BF5AF2"/>
                </a:solidFill>
                <a:latin typeface="Helvetica Neue"/>
              </a:rPr>
              <a:t>Humans verify.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80560"/>
            <a:ext cx="457200" cy="36576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CureMatch.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6868B"/>
                </a:solidFill>
                <a:latin typeface="JetBrains Mono"/>
              </a:rPr>
              <a:t>github.com/meetgajjarx07/curematch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6C6CB"/>
                </a:solidFill>
                <a:latin typeface="Helvetica Neue"/>
              </a:rPr>
              <a:t>Thank you.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00">
                <a:solidFill>
                  <a:srgbClr val="86868B"/>
                </a:solidFill>
                <a:latin typeface="Helvetica Neue"/>
              </a:rPr>
              <a:t>CureMatch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86868B"/>
                </a:solidFill>
                <a:latin typeface="JetBrains Mono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