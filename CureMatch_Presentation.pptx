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300">
                <a:solidFill>
                  <a:srgbClr val="6E6E73"/>
                </a:solidFill>
                <a:latin typeface="Helvetica Neue"/>
              </a:rPr>
              <a:t>FINAL GROUP PRESENTATION ·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0" b="1" i="0" spc="-6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6E6E73"/>
                </a:solidFill>
                <a:latin typeface="Helvetica Neue"/>
              </a:rPr>
              <a:t>Matching clinical trials with large language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45720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B3B41"/>
                </a:solidFill>
                <a:latin typeface="JetBrains Mono"/>
              </a:rPr>
              <a:t>Meet Gajjar  ·  Aashish Patel  ·  Daksh Gupta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86868B"/>
                </a:solidFill>
                <a:latin typeface="Helvetica Neue"/>
              </a:rPr>
              <a:t>Three engineers. Three language models. One matching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6566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80% of trials miss</a:t>
            </a:r>
          </a:p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their enrollment deadlines.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Meanwhile 300,000 patients a year look for a trial and give up.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Every trial publishes its eligibility as a wall of medical prose.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65,081 actively recruiting studies. No patient reads 65,081 trials.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669280"/>
            <a:ext cx="8686800" cy="5486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42432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 TYPICAL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B3B41"/>
                </a:solidFill>
                <a:latin typeface="JetBrains Mono"/>
              </a:rPr>
              <a:t>ECOG 0–1 · eGFR ≥ 30 · no prior anti-PD-1 · no active autoimmune disease · HbA1c &lt; 10.5%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28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E6E73"/>
                </a:solidFill>
                <a:latin typeface="Helvetica Neue"/>
              </a:rPr>
              <a:t>One profile. Every trial screened. Ranked results. Plain-English explanations.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Age · conditions · medications · labs · location. Three minutes. Browser-only.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Scored against every actively-recruiting trial. Rule-based, deterministic, reproducible.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Explain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Every criterion shown. Every exclusion named. Narrative from an LLM.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LLMs read. Rules decide. Humans verify.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Three layers, each doing the one thing it's best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834640" cy="10972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0071E3"/>
                </a:solidFill>
                <a:latin typeface="Helvetica Neue"/>
              </a:rPr>
              <a:t>LLMs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Eligibility prose → structured fields.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Patient questions → grounded answers.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Verdicts → plain-English narrative.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743200"/>
            <a:ext cx="2834640" cy="109728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1D1D1F"/>
                </a:solidFill>
                <a:latin typeface="Helvetica Neue"/>
              </a:rPr>
              <a:t>RULES DECIDE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Age · gender · condition · medications · labs · proximity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→ weighted composite score.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Same input, same output,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2743200"/>
            <a:ext cx="2834640" cy="109728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FF9F0A"/>
                </a:solidFill>
                <a:latin typeface="Helvetica Neue"/>
              </a:rPr>
              <a:t>HUMANS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Trial investigators make the final call.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Our output is ranked candidates — never a diagnosis.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Every criterion shown by name.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spc="-24">
                <a:solidFill>
                  <a:srgbClr val="1D1D1F"/>
                </a:solidFill>
                <a:latin typeface="Helvetica Neue"/>
              </a:rPr>
              <a:t>Three engineers. Three LLMs.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Each of us built a distinct language model into the product.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Aashish Patel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Match Explainer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deterministic verdicts; writes a 2-sentence patient-facing narrative. Refusal-tuned.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#2 + 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Meet Gajjar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Chat Agent · LoRA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RAG chat grounded in each trial's text. Fine-tuned Llama 3.2 1B. The entire Next.js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Daksh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Eligibility 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compound criteria, negation, paraphrase that regex can't. Feeds the same scorer.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LLM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Match Explainer.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6E6E73"/>
                </a:solidFill>
                <a:latin typeface="Helvetica Neue"/>
              </a:rPr>
              <a:t>A patient clicks "Explain this match in plain English." The LLM narrates — grounded in the verdicts.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641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641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Verdicts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41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deterministic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scoring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95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097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097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Serialize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097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compact criteria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51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553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4553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553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Groq Llama 3.3 70B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207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009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009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Narrative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009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≤ 80 words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patient-facing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80560"/>
            <a:ext cx="8686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SAMPLE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1">
                <a:solidFill>
                  <a:srgbClr val="3B3B41"/>
                </a:solidFill>
                <a:latin typeface="Helvetica Neue"/>
              </a:rPr>
              <a:t>“You match on age, condition, and HbA1c — the trial accepts patients 40–75 with type 2 diabetes and HbA1c in range, which you meet. Your Warfarin use is on the trial's exclusion list; the protocol requires no current anticoagulant therapy.”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spc="-20">
                <a:solidFill>
                  <a:srgbClr val="1D1D1F"/>
                </a:solidFill>
                <a:latin typeface="Helvetica Neue"/>
              </a:rPr>
              <a:t>80 words. Strongest positive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A well-engineered prompt is a contract with the model — tight scope, explicit shape, no room to drift.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2560320"/>
            <a:ext cx="6903720" cy="32918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26974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SYSTEM PROMPT (abridged)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971800"/>
            <a:ext cx="63550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You are the CureMatch explainer.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Given per-criterion verdicts (match / excluded /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unknown), write ONE paragraph: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2–3 sentences, ≤ 80 words.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Lead with the strongest positive match.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Name exclusions specifically — e.g. "Warfarin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is on the exclusion list" — never generically.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Close factually. No hype, no uncertainty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beyond what the verdicts show.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Never fabricate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Result: deterministic verdicts stay deterministic. The LLM never changes the match — it only translates.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whole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Next.js 14 · React Three Fiber · GSAP scroll storytelling · Leaflet maps · Recharts dashboard.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Scroll storytelling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   landing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DNA helix, library, scan, verdict — GSAP ScrollTrigger narrates the product before a button is clicked.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3D results globe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All matched trial sites plotted on a pulsing R3F globe. Geocoded via Nominatim + haversine proximity.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Live corpus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Recharts visualizing 65,081 trials: phase distribution, top conditions, parser coverage, excluded-med frequencies.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Trial detail +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/trial/[id]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Match breakdown with real patient values vs trial requirements. Floating chat launcher. Streaming narratives.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LLM #2  ·  THE CHAT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Ask. Grounded. Refused when off-topic.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Llama 3.3 70B via Groq · RAG over each trial's eligibility text · streaming at ~500 tokens/sec.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29768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791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30D158"/>
                </a:solidFill>
                <a:latin typeface="Helvetica Neue"/>
              </a:rPr>
              <a:t>IN-CONTEXT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“Can I join if I'm on Warfarin?”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47288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eligibility criteria list anticoagulants in the exclusions, so you would not qualify while taking Warfarin.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17720"/>
            <a:ext cx="3840480" cy="18288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00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FF9F0A"/>
                </a:solidFill>
                <a:latin typeface="Helvetica Neue"/>
              </a:rPr>
              <a:t>OUT-OF-CONTEXT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“What's the weather in Tokyo?”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public information doesn't specify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514600"/>
            <a:ext cx="4160520" cy="37947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2743200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HOW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264408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Load trial's eligibility text from trials.db.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8496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867911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Inject it as retrieval context in the prompt.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445312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471416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Forbid answering outside the text; script refusal.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505663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074919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Append the user turn; stream from Groq.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56601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678423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Persist history per-NCT in localStorage.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LoRA on Llama 3.2 1B.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A controlled experiment: parser-grounded Q&amp;A improves refusal behavior in a small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642616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450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523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Q&amp;A pairs auto-generated from parser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74136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502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rank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611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LoRA · 8M adapter params on 1B 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33672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36168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3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447141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Colab T4 GPU · ~40 min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93208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221224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33095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total training cost · free tier</a:t>
            </a:r>
          </a:p>
        </p:txBody>
      </p:sp>
      <p:pic>
        <p:nvPicPr>
          <p:cNvPr id="17" name="Picture 16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514600"/>
            <a:ext cx="4297680" cy="21410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83480" y="58521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86868B"/>
                </a:solidFill>
                <a:latin typeface="Helvetica Neue"/>
              </a:rPr>
              <a:t>Training + eval loss across 3 epochs  ·  notebooks/finetune_curematch.ipynb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Production inference uses base Llama 3.3 70B via Groq. The 1B fine-tune proves the dataset-construction pipeline works.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LLM #3  ·  THE PARSER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Reading what regex can't.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The rule parser covers 33% of trials. For the other 67%, the LLM reads compound criteria, negation, and paraphrase.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8686800" cy="8229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29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INPUT  ·  one line from an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3B41"/>
                </a:solidFill>
                <a:latin typeface="JetBrains Mono"/>
              </a:rPr>
              <a:t>"Creatinine clearance &gt; 60 mL/min, unless on chronic dialysis, in which case any value is acceptable."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4251960" cy="10972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F3B30"/>
                </a:solidFill>
                <a:latin typeface="Helvetica Neue"/>
              </a:rPr>
              <a:t>RULE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missed the override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Matched "creatinine &gt; 60" only. Missed the dialysis conditional — dialysis patients would be incorrectly excluded from the trial.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0" y="3749039"/>
            <a:ext cx="4251960" cy="109728"/>
          </a:xfrm>
          <a:prstGeom prst="rect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LLM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extracted both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lab: creatinine_clearance, min: 60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override: { if: on_dialysis, ignore_threshold: true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 reads. Rule engine scores.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Whether the structured fields came from rules or an LLM, the downstream scorer is the same — deterministic, auditable.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743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35%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1089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Medications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154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52044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Lab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93192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977639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4340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Proximity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Gender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1663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440680"/>
            <a:ext cx="8686800" cy="7772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AUDITABLE EXCLUSION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8">
                <a:solidFill>
                  <a:srgbClr val="1D1D1F"/>
                </a:solidFill>
                <a:latin typeface="JetBrains Mono"/>
              </a:rPr>
              <a:t>You (HbA1c 6.2)  →  Required (≥ 7.5)  →  excluded.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What we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exclusion 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full-corpus parse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FF9F0A"/>
                </a:solidFill>
                <a:latin typeface="Helvetica Neue"/>
              </a:rPr>
              <a:t>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468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33% of trials for medications, 29% for labs. The LLM parser is the planned remediation.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LLM parser not yet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Schema and source column are ready. We've run it on samples, not the full corpus.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19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3775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No published accuracy metric.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1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Qualitative spot-checks only. An F1 score against hand-labeled ground truth is the next milestone.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3172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BF5AF2"/>
                </a:solidFill>
                <a:latin typeface="Helvetica Neue"/>
              </a:rPr>
              <a:t>Humans verify.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80560"/>
            <a:ext cx="45720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github.com/meetgajjarx07/curematch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6C6C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