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753904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300">
                <a:solidFill>
                  <a:srgbClr val="6E6E73"/>
                </a:solidFill>
                <a:latin typeface="Helvetica Neue"/>
              </a:rPr>
              <a:t>FINAL GROUP PRESENTATION · APRIL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9144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0" b="1" i="0" spc="-60">
                <a:solidFill>
                  <a:srgbClr val="1D1D1F"/>
                </a:solidFill>
                <a:latin typeface="Helvetica Neue"/>
              </a:rPr>
              <a:t>CureMatch.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 i="0">
                <a:solidFill>
                  <a:srgbClr val="6E6E73"/>
                </a:solidFill>
                <a:latin typeface="Helvetica Neue"/>
              </a:rPr>
              <a:t>Matching clinical trials with large language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937760"/>
            <a:ext cx="457200" cy="36576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1663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3B3B41"/>
                </a:solidFill>
                <a:latin typeface="JetBrains Mono"/>
              </a:rPr>
              <a:t>Meet Gajjar  ·  Aashish Patel  ·  Daksh Gupta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Helvetica Neue"/>
              </a:rPr>
              <a:t>Three engineers. Three language models. One matching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865662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80% of trials miss</a:t>
            </a:r>
          </a:p>
          <a:p>
            <a:pPr algn="l">
              <a:lnSpc>
                <a:spcPct val="105000"/>
              </a:lnSpc>
            </a:pPr>
            <a:r>
              <a:rPr sz="4800" b="1" i="0" spc="-30">
                <a:solidFill>
                  <a:srgbClr val="1D1D1F"/>
                </a:solidFill>
                <a:latin typeface="Helvetica Neue"/>
              </a:rPr>
              <a:t>their enrollment deadlines.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686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Meanwhile 300,000 patients a year look for a trial and give up.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Every trial publishes its eligibility as a wall of medical prose.</a:t>
            </a:r>
          </a:p>
          <a:p>
            <a:pPr algn="l">
              <a:lnSpc>
                <a:spcPct val="160000"/>
              </a:lnSpc>
            </a:pPr>
            <a:r>
              <a:rPr sz="1700" b="0" i="0">
                <a:solidFill>
                  <a:srgbClr val="3B3B41"/>
                </a:solidFill>
                <a:latin typeface="Helvetica Neue"/>
              </a:rPr>
              <a:t>65,081 actively recruiting studies. No patient reads 65,081 trials.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669280"/>
            <a:ext cx="8686800" cy="5486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42432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 TYPICAL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43600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3B3B41"/>
                </a:solidFill>
                <a:latin typeface="JetBrains Mono"/>
              </a:rPr>
              <a:t>ECOG 0–1 · eGFR ≥ 30 · no prior anti-PD-1 · no active autoimmune disease · HbA1c &lt; 10.5%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 i="0" spc="-28">
                <a:solidFill>
                  <a:srgbClr val="1D1D1F"/>
                </a:solidFill>
                <a:latin typeface="Helvetica Neue"/>
              </a:rPr>
              <a:t>Read every trial, for you.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3774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6E6E73"/>
                </a:solidFill>
                <a:latin typeface="Helvetica Neue"/>
              </a:rPr>
              <a:t>One profile. Every trial screened. Ranked results. Plain-English explanations.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Profile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Age · conditions · medications · labs · location. Three minutes. Browser-only.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Match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Scored against every actively-recruiting trial. Rule-based, deterministic, reproducible.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3840480"/>
            <a:ext cx="2834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411480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 i="0" spc="-20">
                <a:solidFill>
                  <a:srgbClr val="0071E3"/>
                </a:solidFill>
                <a:latin typeface="JetBrains Mono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D1D1F"/>
                </a:solidFill>
                <a:latin typeface="Helvetica Neue"/>
              </a:rPr>
              <a:t>Explain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5212080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 i="0">
                <a:solidFill>
                  <a:srgbClr val="6E6E73"/>
                </a:solidFill>
                <a:latin typeface="Helvetica Neue"/>
              </a:rPr>
              <a:t>Every criterion shown. Every exclusion named. Narrative from an LLM.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LLMs read. Rules decide. Humans verify.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6E6E73"/>
                </a:solidFill>
                <a:latin typeface="Helvetica Neue"/>
              </a:rPr>
              <a:t>Three layers, each doing the one thing it's best at.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2834640" cy="109728"/>
          </a:xfrm>
          <a:prstGeom prst="rect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0071E3"/>
                </a:solidFill>
                <a:latin typeface="Helvetica Neue"/>
              </a:rPr>
              <a:t>LLMs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Eligibility prose → structured fields.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Patient questions → grounded answers.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Verdicts → plain-English narrative.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20440" y="2743200"/>
            <a:ext cx="2834640" cy="109728"/>
          </a:xfrm>
          <a:prstGeom prst="rect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1D1D1F"/>
                </a:solidFill>
                <a:latin typeface="Helvetica Neue"/>
              </a:rPr>
              <a:t>RULES DECIDE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Age · gender · condition · medications · labs · proximity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→ weighted composite score.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Same input, same output, every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743200"/>
            <a:ext cx="28346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2743200"/>
            <a:ext cx="2834640" cy="109728"/>
          </a:xfrm>
          <a:prstGeom prst="rect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3063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 spc="250">
                <a:solidFill>
                  <a:srgbClr val="FF9F0A"/>
                </a:solidFill>
                <a:latin typeface="Helvetica Neue"/>
              </a:rPr>
              <a:t>HUMANS VERIFY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611880"/>
            <a:ext cx="22860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Trial investigators make the final call.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Our output is ranked candidates — never a diagnosis.</a:t>
            </a:r>
          </a:p>
          <a:p>
            <a:pPr algn="l">
              <a:lnSpc>
                <a:spcPct val="160000"/>
              </a:lnSpc>
            </a:pPr>
            <a:r>
              <a:rPr sz="1300" b="0" i="0">
                <a:solidFill>
                  <a:srgbClr val="3B3B41"/>
                </a:solidFill>
                <a:latin typeface="Helvetica Neue"/>
              </a:rPr>
              <a:t>Every criterion shown by name.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THE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Three engineers.</a:t>
            </a:r>
          </a:p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Three language models.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3931920"/>
            <a:ext cx="28346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4160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449884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10">
                <a:solidFill>
                  <a:srgbClr val="1D1D1F"/>
                </a:solidFill>
                <a:latin typeface="Helvetica Neue"/>
              </a:rPr>
              <a:t>Aashish Patel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501091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Match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5504688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Reads the deterministic verdicts and writes a 2-sentence patient-facing narrative. Prompt-engineered refusal of off-topic content. Streaming UI.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3931920"/>
            <a:ext cx="28346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160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#2 +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449884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10">
                <a:solidFill>
                  <a:srgbClr val="1D1D1F"/>
                </a:solidFill>
                <a:latin typeface="Helvetica Neue"/>
              </a:rPr>
              <a:t>Meet Gajjar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501091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Chat Agent · LoRA fine-tune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94760" y="5504688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RAG chat grounded in each trial's text. Fine-tuned Llama 3.2 1B on 450 Q&amp;A pairs. Whole Next.js app: 3D scenes, GSAP, results globe, dashboard.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3931920"/>
            <a:ext cx="2834640" cy="2560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59" y="41605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 spc="250">
                <a:solidFill>
                  <a:srgbClr val="0071E3"/>
                </a:solidFill>
                <a:latin typeface="Helvetica Neue"/>
              </a:rPr>
              <a:t>LLM #3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4498848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-10">
                <a:solidFill>
                  <a:srgbClr val="1D1D1F"/>
                </a:solidFill>
                <a:latin typeface="Helvetica Neue"/>
              </a:rPr>
              <a:t>Daksh Gupta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501091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3B3B41"/>
                </a:solidFill>
                <a:latin typeface="Helvetica Neue"/>
              </a:rPr>
              <a:t>The Eligibility Parser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5504688"/>
            <a:ext cx="2286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Reads compound criteria, negation, and paraphrase that regex can't. Extracts structured fields from prose for the deterministic scorer.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LLM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Match Explainer.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6E6E73"/>
                </a:solidFill>
                <a:latin typeface="Helvetica Neue"/>
              </a:rPr>
              <a:t>A patient clicks "Explain this match in plain English." The LLM narrates — grounded in the verdicts.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641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5641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Verdicts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41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deterministic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scoring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2295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097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5097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Serialize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097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compact criteria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1751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553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4553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4553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Groq Llama 3.3 70B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streaming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2076" y="3337560"/>
            <a:ext cx="118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86868B"/>
                </a:solidFill>
                <a:latin typeface="Helvetica Neue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40092" y="2926080"/>
            <a:ext cx="205740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0092" y="3154680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1D1D1F"/>
                </a:solidFill>
                <a:latin typeface="Helvetica Neue"/>
              </a:rPr>
              <a:t>Narrative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40092" y="352044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≤ 80 words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patient-facing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480560"/>
            <a:ext cx="8686800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17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SAMPLE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92040"/>
            <a:ext cx="8229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 i="1">
                <a:solidFill>
                  <a:srgbClr val="3B3B41"/>
                </a:solidFill>
                <a:latin typeface="Helvetica Neue"/>
              </a:rPr>
              <a:t>“You match on age, condition, and HbA1c — the trial accepts patients 40–75 with type 2 diabetes and HbA1c in range, which you meet. Your Warfarin use is on the trial's exclusion list; the protocol requires no current anticoagulant therapy.”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AASHISH PATEL  ·  PROMPT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 spc="-20">
                <a:solidFill>
                  <a:srgbClr val="1D1D1F"/>
                </a:solidFill>
                <a:latin typeface="Helvetica Neue"/>
              </a:rPr>
              <a:t>80 words. Strongest positive first.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1">
                <a:solidFill>
                  <a:srgbClr val="6E6E73"/>
                </a:solidFill>
                <a:latin typeface="Helvetica Neue"/>
              </a:rPr>
              <a:t>A well-engineered prompt is a contract with the model — tight scope, explicit shape, no room to drift.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868680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SYSTEM PROMPT (abridged)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71800"/>
            <a:ext cx="822960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You are the CureMatch explainer.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Given per-criterion verdicts (match / excluded / unknown) for one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clinical trial and one patient profile, write ONE paragraph: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2–3 sentences, ≤ 80 words.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Lead with the strongest positive match.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If there are exclusions, name them specifically — "Warfarin is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on the exclusion list" — never generically.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Close factually. No marketing language, no hype, no uncertainty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  beyond what the verdicts show.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1D1D1F"/>
                </a:solidFill>
                <a:latin typeface="JetBrains Mono"/>
              </a:rPr>
              <a:t>  • Never fabricate criteria that aren't in the verdicts.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8932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 i="1">
                <a:solidFill>
                  <a:srgbClr val="86868B"/>
                </a:solidFill>
                <a:latin typeface="Helvetica Neue"/>
              </a:rPr>
              <a:t>Result: deterministic verdicts stay deterministic. The LLM never changes the match — it only translates.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FRONTEND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The whole application.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6E6E73"/>
                </a:solidFill>
                <a:latin typeface="Helvetica Neue"/>
              </a:rPr>
              <a:t>Next.js 14 · React Three Fiber · GSAP scroll storytelling · Leaflet maps · Recharts dashboard.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Scroll storytelling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   landing page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DNA helix, library, scan, verdict — GSAP ScrollTrigger narrates the product before a button is clicked.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274320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3D results globe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4436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331012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All matched trial sites plotted on a pulsing R3F globe. Geocoded via Nominatim + haversine proximity.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Live corpus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Recharts visualizing 65,081 trials: phase distribution, top conditions, parser coverage, excluded-med frequencies.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4023360"/>
            <a:ext cx="4297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Helvetica Neue"/>
              </a:rPr>
              <a:t>Trial detail + 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224528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0071E3"/>
                </a:solidFill>
                <a:latin typeface="JetBrains Mono"/>
              </a:rPr>
              <a:t>/trial/[id]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4590288"/>
            <a:ext cx="3886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 i="0">
                <a:solidFill>
                  <a:srgbClr val="6E6E73"/>
                </a:solidFill>
                <a:latin typeface="Helvetica Neue"/>
              </a:rPr>
              <a:t>Match breakdown with real patient values vs trial requirements. Floating chat launcher. Streaming narratives.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LLM #2  ·  THE CHAT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 spc="-20">
                <a:solidFill>
                  <a:srgbClr val="1D1D1F"/>
                </a:solidFill>
                <a:latin typeface="Helvetica Neue"/>
              </a:rPr>
              <a:t>Ask. Grounded. Refused when off-topic.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Llama 3.3 70B via Groq · RAG over each trial's eligibility text · streaming at ~500 tokens/sec.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60320"/>
            <a:ext cx="429768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43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30D158"/>
                </a:solidFill>
                <a:latin typeface="Helvetica Neue"/>
              </a:rPr>
              <a:t>IN-CONTEXT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63239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“Can I join if I'm on Warfarin?”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5661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eligibility criteria list anticoagulants in the exclusions, so you would not qualify while taking Warfarin. Final eligibility is determined by the trial's investigators.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983479"/>
            <a:ext cx="3840480" cy="18288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1663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FF9F0A"/>
                </a:solidFill>
                <a:latin typeface="Helvetica Neue"/>
              </a:rPr>
              <a:t>OUT-OF-CONTEXT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1D1D1F"/>
                </a:solidFill>
                <a:latin typeface="Helvetica Neue"/>
              </a:rPr>
              <a:t>“What's the weather in Tokyo?”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897879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50" b="0" i="0">
                <a:solidFill>
                  <a:srgbClr val="3B3B41"/>
                </a:solidFill>
                <a:latin typeface="Helvetica Neue"/>
              </a:rPr>
              <a:t>The trial's public information doesn't specify that.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2560320"/>
            <a:ext cx="4160520" cy="35661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49240" y="2788920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HOW IT WORKS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3282696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Load trial's eligibility_criteria from trials.db.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764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813048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Inject as retrieval context in the system prompt.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4306824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434340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Forbid answering outside that text; script a refusal.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4837175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873751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Append user turn; stream completion from Groq.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5367527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071E3"/>
                </a:solidFill>
                <a:latin typeface="JetBrains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5404103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3B3B41"/>
                </a:solidFill>
                <a:latin typeface="Helvetica Neue"/>
              </a:rPr>
              <a:t>Persist history per-NCT in localStorage.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MEET GAJJAR  ·  FINE-TUNE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LoRA on Llama 3.2 1B.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A controlled experiment: parser-grounded Q&amp;A improves refusal behavior in a small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514600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642616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450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752344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Q&amp;A pairs auto-generated from parser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374136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3502152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rank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61188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LoRA · 8M adapter params on 1B 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33672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361688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3 epochs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447141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Colab T4 GPU · ~40 min runtime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93208"/>
            <a:ext cx="4160520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5221224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-15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33095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6E6E73"/>
                </a:solidFill>
                <a:latin typeface="Helvetica Neue"/>
              </a:rPr>
              <a:t>total training cost · free tier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83480" y="2514600"/>
            <a:ext cx="4297680" cy="32918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83480" y="39319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86868B"/>
                </a:solidFill>
                <a:latin typeface="JetBrains Mono"/>
              </a:rPr>
              <a:t>loss_curve.png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420624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 i="0">
                <a:solidFill>
                  <a:srgbClr val="86868B"/>
                </a:solidFill>
                <a:latin typeface="Helvetica Neue"/>
              </a:rPr>
              <a:t>run the Colab notebook,</a:t>
            </a:r>
          </a:p>
          <a:p>
            <a:pPr algn="ctr">
              <a:lnSpc>
                <a:spcPct val="150000"/>
              </a:lnSpc>
            </a:pPr>
            <a:r>
              <a:rPr sz="1000" b="0" i="0">
                <a:solidFill>
                  <a:srgbClr val="86868B"/>
                </a:solidFill>
                <a:latin typeface="Helvetica Neue"/>
              </a:rPr>
              <a:t>drop the PNG in project root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86868B"/>
                </a:solidFill>
                <a:latin typeface="Helvetica Neue"/>
              </a:rPr>
              <a:t>Production inference uses base Llama 3.3 70B via Groq. The 1B fine-tune proves the dataset-construction pipeline works.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LLM #3  ·  THE PARSER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spc="-24">
                <a:solidFill>
                  <a:srgbClr val="1D1D1F"/>
                </a:solidFill>
                <a:latin typeface="Helvetica Neue"/>
              </a:rPr>
              <a:t>Reading what regex can't.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The rule parser covers 33% of trials. For the other 67%, the LLM reads compound criteria, negation, and paraphrase.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8686800" cy="82296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85292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INPUT  ·  one line from an eligibility criterion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3B3B41"/>
                </a:solidFill>
                <a:latin typeface="JetBrains Mono"/>
              </a:rPr>
              <a:t>"Creatinine clearance &gt; 60 mL/min, unless on chronic dialysis, in which case any value is acceptable."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4251960" cy="109728"/>
          </a:xfrm>
          <a:prstGeom prst="rect">
            <a:avLst/>
          </a:prstGeom>
          <a:solidFill>
            <a:srgbClr val="FF3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FF3B30"/>
                </a:solidFill>
                <a:latin typeface="Helvetica Neue"/>
              </a:rPr>
              <a:t>RULE PARSER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missed the override 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Matched "creatinine &gt; 60" only. Missed the dialysis conditional — dialysis patients would be incorrectly excluded from the trial.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749039"/>
            <a:ext cx="42519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3480" y="3749039"/>
            <a:ext cx="4251960" cy="109728"/>
          </a:xfrm>
          <a:prstGeom prst="rect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4023359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00">
                <a:solidFill>
                  <a:srgbClr val="30D158"/>
                </a:solidFill>
                <a:latin typeface="Helvetica Neue"/>
              </a:rPr>
              <a:t>LLM 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07407"/>
            <a:ext cx="3794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1D1D1F"/>
                </a:solidFill>
                <a:latin typeface="JetBrains Mono"/>
              </a:rPr>
              <a:t>{ extracted both 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892040"/>
            <a:ext cx="37947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lab: creatinine_clearance, min: 60</a:t>
            </a:r>
          </a:p>
          <a:p>
            <a:pPr algn="l">
              <a:lnSpc>
                <a:spcPct val="160000"/>
              </a:lnSpc>
            </a:pPr>
            <a:r>
              <a:rPr sz="1100" b="0" i="0">
                <a:solidFill>
                  <a:srgbClr val="3B3B41"/>
                </a:solidFill>
                <a:latin typeface="JetBrains Mono"/>
              </a:rPr>
              <a:t>override: { if: on_dialysis, ignore_threshold: true 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DAKSH GUPTA  ·  SCORING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 spc="-22">
                <a:solidFill>
                  <a:srgbClr val="1D1D1F"/>
                </a:solidFill>
                <a:latin typeface="Helvetica Neue"/>
              </a:rPr>
              <a:t>LLM reads. Rule engine scores.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74519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6E6E73"/>
                </a:solidFill>
                <a:latin typeface="Helvetica Neue"/>
              </a:rPr>
              <a:t>Whether the structured fields came from rules or an LLM, the downstream scorer is the same — deterministic, auditable.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Condition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27432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35%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1089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Medications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546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20%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352044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Lab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566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393192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39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3977639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34340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43891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Proximity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43891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10%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71600" y="475488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B3B41"/>
                </a:solidFill>
                <a:latin typeface="Helvetica Neue"/>
              </a:rPr>
              <a:t>Gender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48006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0071E3"/>
                </a:solidFill>
                <a:latin typeface="JetBrains Mono"/>
              </a:rPr>
              <a:t>8%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71600" y="5166360"/>
            <a:ext cx="7498079" cy="9144"/>
          </a:xfrm>
          <a:prstGeom prst="rect">
            <a:avLst/>
          </a:prstGeom>
          <a:solidFill>
            <a:srgbClr val="E8E8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48640" y="5440680"/>
            <a:ext cx="8686800" cy="777240"/>
          </a:xfrm>
          <a:prstGeom prst="roundRect">
            <a:avLst>
              <a:gd name="adj" fmla="val 6000"/>
            </a:avLst>
          </a:prstGeom>
          <a:solidFill>
            <a:srgbClr val="F5F5F7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200">
                <a:solidFill>
                  <a:srgbClr val="86868B"/>
                </a:solidFill>
                <a:latin typeface="Helvetica Neue"/>
              </a:rPr>
              <a:t>AUDITABLE EXCLUSION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797296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 spc="-8">
                <a:solidFill>
                  <a:srgbClr val="1D1D1F"/>
                </a:solidFill>
                <a:latin typeface="JetBrains Mono"/>
              </a:rPr>
              <a:t>You (HbA1c 6.2)  →  Required (≥ 7.5)  →  excluded.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6E6E73"/>
                </a:solidFill>
                <a:latin typeface="Helvetica Neue"/>
              </a:rPr>
              <a:t>IN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What we shipped.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65,081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trials indexed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411,042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sites with lat/lng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743200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2944368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21,191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35661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exclusion lists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19,062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parsed lab thresholds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39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86 sec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full-corpus parse 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4142232"/>
            <a:ext cx="283464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8E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4343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 spc="-18">
                <a:solidFill>
                  <a:srgbClr val="0071E3"/>
                </a:solidFill>
                <a:latin typeface="JetBrains Mono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49651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6E73"/>
                </a:solidFill>
                <a:latin typeface="Helvetica Neue"/>
              </a:rPr>
              <a:t>ongoing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 i="1">
                <a:solidFill>
                  <a:srgbClr val="6E6E73"/>
                </a:solidFill>
                <a:latin typeface="Helvetica Neue"/>
              </a:rPr>
              <a:t>Zero accounts · zero tracking · zero analytics · zero telemetry.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i="0" spc="250">
                <a:solidFill>
                  <a:srgbClr val="FF9F0A"/>
                </a:solidFill>
                <a:latin typeface="Helvetica Neue"/>
              </a:rPr>
              <a:t>WHAT'S NOT 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65662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 spc="-26">
                <a:solidFill>
                  <a:srgbClr val="1D1D1F"/>
                </a:solidFill>
                <a:latin typeface="Helvetica Neue"/>
              </a:rPr>
              <a:t>Limitations.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46888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Research prototype.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Not a medical device. Final eligibility is the trial investigators' 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33756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Parser coverage is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6616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33% of trials for medications, 29% for labs. The LLM parser is the planned remediation.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206240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LLM parser not yet in production.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434840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Schema and source column are ready. We've run it on samples, not the full corpus.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074919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93775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D1D1F"/>
                </a:solidFill>
                <a:latin typeface="Helvetica Neue"/>
              </a:rPr>
              <a:t>No published accuracy metric.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303519"/>
            <a:ext cx="8229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i="0">
                <a:solidFill>
                  <a:srgbClr val="6E6E73"/>
                </a:solidFill>
                <a:latin typeface="Helvetica Neue"/>
              </a:rPr>
              <a:t>Qualitative spot-checks only. An F1 score against hand-labeled ground truth is the next milestone.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7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FFFFFF"/>
                </a:solidFill>
                <a:latin typeface="Helvetica Neue"/>
              </a:rPr>
              <a:t>LLMs for language.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33172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2997FF"/>
                </a:solidFill>
                <a:latin typeface="Helvetica Neue"/>
              </a:rPr>
              <a:t>Rules for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91440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400" b="1" i="0" spc="-28">
                <a:solidFill>
                  <a:srgbClr val="BF5AF2"/>
                </a:solidFill>
                <a:latin typeface="Helvetica Neue"/>
              </a:rPr>
              <a:t>Humans verify.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480560"/>
            <a:ext cx="457200" cy="36576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9144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Helvetica Neue"/>
              </a:rPr>
              <a:t>CureMatch.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86868B"/>
                </a:solidFill>
                <a:latin typeface="JetBrains Mono"/>
              </a:rPr>
              <a:t>github.com/meetgajjarx07/curematch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6692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C6C6CB"/>
                </a:solidFill>
                <a:latin typeface="Helvetica Neue"/>
              </a:rPr>
              <a:t>Thank you. 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 spc="100">
                <a:solidFill>
                  <a:srgbClr val="86868B"/>
                </a:solidFill>
                <a:latin typeface="Helvetica Neue"/>
              </a:rPr>
              <a:t>CureMatch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47395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86868B"/>
                </a:solidFill>
                <a:latin typeface="JetBrains Mono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