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753904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6E6E73"/>
                </a:solidFill>
                <a:latin typeface="Helvetica Neue"/>
              </a:rPr>
              <a:t>CLINICAL TRIAL MATCHING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9144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0" b="1" i="0" spc="-50">
                <a:solidFill>
                  <a:srgbClr val="1D1D1F"/>
                </a:solidFill>
                <a:latin typeface="Helvetica Neue"/>
              </a:rPr>
              <a:t>CureMatch.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6E6E73"/>
                </a:solidFill>
                <a:latin typeface="Helvetica Neue"/>
              </a:rPr>
              <a:t>Finding clinical trials you qualify for — at the speed of scroll.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5212080"/>
            <a:ext cx="548640" cy="36576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3949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3B3B41"/>
                </a:solidFill>
                <a:latin typeface="Helvetica Neue"/>
              </a:rPr>
              <a:t>[Your names] · [Your institution]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15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6868B"/>
                </a:solidFill>
                <a:latin typeface="Helvetica Neue"/>
              </a:rPr>
              <a:t>Final Presentation · April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0071E3"/>
                </a:solidFill>
                <a:latin typeface="Helvetica Neue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 spc="-30">
                <a:solidFill>
                  <a:srgbClr val="1D1D1F"/>
                </a:solidFill>
                <a:latin typeface="Helvetica Neue"/>
              </a:rPr>
              <a:t>80% of clinical trials</a:t>
            </a:r>
          </a:p>
          <a:p>
            <a:pPr algn="l">
              <a:lnSpc>
                <a:spcPct val="105000"/>
              </a:lnSpc>
            </a:pPr>
            <a:r>
              <a:rPr sz="4800" b="1" i="0" spc="-30">
                <a:solidFill>
                  <a:srgbClr val="1D1D1F"/>
                </a:solidFill>
                <a:latin typeface="Helvetica Neue"/>
              </a:rPr>
              <a:t>fail to meet enrollment.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8686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 i="0">
                <a:solidFill>
                  <a:srgbClr val="3B3B41"/>
                </a:solidFill>
                <a:latin typeface="Helvetica Neue"/>
              </a:rPr>
              <a:t>Eligibility criteria are buried in walls of medical prose — dense, technical, written for clinicians. A patient searching for a trial they might qualify for is, at present, expected to read through 65,000 studies to find the handful that match their profile.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120640"/>
            <a:ext cx="8686800" cy="100584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257800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TYPICAL ELIGIBILITY 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B3B41"/>
                </a:solidFill>
                <a:latin typeface="JetBrains Mono"/>
              </a:rPr>
              <a:t>ECOG 0–1 · eGFR ≥ 30 · no prior anti-PD-1 therapy · no active autoimmune disease · HbA1c &lt; 10.5%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0071E3"/>
                </a:solidFill>
                <a:latin typeface="Helvetica Neue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9144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 spc="-30">
                <a:solidFill>
                  <a:srgbClr val="1D1D1F"/>
                </a:solidFill>
                <a:latin typeface="Helvetica Neue"/>
              </a:rPr>
              <a:t>Read every trial, for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286000"/>
            <a:ext cx="8686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6E6E73"/>
                </a:solidFill>
                <a:latin typeface="Helvetica Neue"/>
              </a:rPr>
              <a:t>Enter your medical profile once. See every matching trial, with every criterion shown.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657600"/>
            <a:ext cx="28346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38862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71E3"/>
                </a:solidFill>
                <a:latin typeface="JetBrains Mon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44805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D1D1F"/>
                </a:solidFill>
                <a:latin typeface="Helvetica Neue"/>
              </a:rPr>
              <a:t>Enter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89204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Age · conditions · medications · lab values · location. Takes 3 minutes. Stays in your browser.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3657600"/>
            <a:ext cx="28346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38862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71E3"/>
                </a:solidFill>
                <a:latin typeface="JetBrains Mono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44805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D1D1F"/>
                </a:solidFill>
                <a:latin typeface="Helvetica Neue"/>
              </a:rPr>
              <a:t>Match instantly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89204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Compared against all 65,081 actively recruiting trials. Rule-based · deterministic · reproducible.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657600"/>
            <a:ext cx="28346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59" y="38862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71E3"/>
                </a:solidFill>
                <a:latin typeface="JetBrains Mono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44805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D1D1F"/>
                </a:solidFill>
                <a:latin typeface="Helvetica Neue"/>
              </a:rPr>
              <a:t>See every verdict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489204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Per-criterion breakdown. Match · Excluded · Unknown. No black-box score.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0071E3"/>
                </a:solidFill>
                <a:latin typeface="Helvetica Neue"/>
              </a:rPr>
              <a:t>THE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9144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 spc="-25">
                <a:solidFill>
                  <a:srgbClr val="1D1D1F"/>
                </a:solidFill>
                <a:latin typeface="Helvetica Neue"/>
              </a:rPr>
              <a:t>Some data is structured. Most isn't.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28600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6E6E73"/>
                </a:solidFill>
                <a:latin typeface="Helvetica Neue"/>
              </a:rPr>
              <a:t>The API gives us clean fields — but the criteria that matter most are free text.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291840"/>
            <a:ext cx="438912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0D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30D158"/>
                </a:solidFill>
                <a:latin typeface="Helvetica Neue"/>
              </a:rPr>
              <a:t>✓ STRUCTURED IN THE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977639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3B3B41"/>
                </a:solidFill>
                <a:latin typeface="Helvetica Neue"/>
              </a:rPr>
              <a:t>— Age bounds (min / max)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61688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3B3B41"/>
                </a:solidFill>
                <a:latin typeface="Helvetica Neue"/>
              </a:rPr>
              <a:t>— Gender requirement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7457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3B3B41"/>
                </a:solidFill>
                <a:latin typeface="Helvetica Neue"/>
              </a:rPr>
              <a:t>— Conditions (MeSH-tagged)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29783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3B3B41"/>
                </a:solidFill>
                <a:latin typeface="Helvetica Neue"/>
              </a:rPr>
              <a:t>— Phase · enrollment count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513831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3B3B41"/>
                </a:solidFill>
                <a:latin typeface="Helvetica Neue"/>
              </a:rPr>
              <a:t>— Locations with lat/lng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66360" y="3291840"/>
            <a:ext cx="438912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F9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0" y="352044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FF9F0A"/>
                </a:solidFill>
                <a:latin typeface="Helvetica Neue"/>
              </a:rPr>
              <a:t>⚠ BURIED IN FREE 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977639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3B3B41"/>
                </a:solidFill>
                <a:latin typeface="Helvetica Neue"/>
              </a:rPr>
              <a:t>— Excluded medications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4361688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3B3B41"/>
                </a:solidFill>
                <a:latin typeface="Helvetica Neue"/>
              </a:rPr>
              <a:t>— Lab value thresholds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47457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3B3B41"/>
                </a:solidFill>
                <a:latin typeface="Helvetica Neue"/>
              </a:rPr>
              <a:t>— Performance status (ECOG)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5129783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3B3B41"/>
                </a:solidFill>
                <a:latin typeface="Helvetica Neue"/>
              </a:rPr>
              <a:t>— Prior treatment history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5513831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3B3B41"/>
                </a:solidFill>
                <a:latin typeface="Helvetica Neue"/>
              </a:rPr>
              <a:t>— Compound conditional rules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0071E3"/>
                </a:solidFill>
                <a:latin typeface="Helvetica Neue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 spc="-20">
                <a:solidFill>
                  <a:srgbClr val="1D1D1F"/>
                </a:solidFill>
                <a:latin typeface="Helvetica Neue"/>
              </a:rPr>
              <a:t>Four layers. One deliberate split.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103120"/>
            <a:ext cx="7040880" cy="59436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240280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D1D1F"/>
                </a:solidFill>
                <a:latin typeface="Helvetica Neue"/>
              </a:rPr>
              <a:t>ClinicalTrials.gov API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269748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86868B"/>
                </a:solidFill>
                <a:latin typeface="Helvetica Neue"/>
              </a:rPr>
              <a:t>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3017520"/>
            <a:ext cx="704088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2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127248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1D1D1F"/>
                </a:solidFill>
                <a:latin typeface="JetBrains Mono"/>
              </a:rPr>
              <a:t>trials.db  ·  65,081 trials  ·  411,042 locations  ·  read-only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61188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86868B"/>
                </a:solidFill>
                <a:latin typeface="Helvetica Neue"/>
              </a:rPr>
              <a:t>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931920"/>
            <a:ext cx="7040880" cy="731520"/>
          </a:xfrm>
          <a:prstGeom prst="roundRect">
            <a:avLst>
              <a:gd name="adj" fmla="val 8000"/>
            </a:avLst>
          </a:prstGeom>
          <a:solidFill>
            <a:srgbClr val="E6F4FD"/>
          </a:solidFill>
          <a:ln w="9525">
            <a:solidFill>
              <a:srgbClr val="007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023360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071E3"/>
                </a:solidFill>
                <a:latin typeface="Helvetica Neue"/>
              </a:rPr>
              <a:t>Rule-based parser  (RxNorm + regex + scispaCy)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343400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86 seconds · writes parsed.db (structured criteria)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46634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86868B"/>
                </a:solidFill>
                <a:latin typeface="Helvetica Neue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983480"/>
            <a:ext cx="7040880" cy="594360"/>
          </a:xfrm>
          <a:prstGeom prst="roundRect">
            <a:avLst>
              <a:gd name="adj" fmla="val 8000"/>
            </a:avLst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093208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Helvetica Neue"/>
              </a:rPr>
              <a:t>Matching engine  ·  deterministic  ·  no AI in the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55778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86868B"/>
                </a:solidFill>
                <a:latin typeface="Helvetica Neue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5852160"/>
            <a:ext cx="7040880" cy="594360"/>
          </a:xfrm>
          <a:prstGeom prst="roundRect">
            <a:avLst>
              <a:gd name="adj" fmla="val 8000"/>
            </a:avLst>
          </a:prstGeom>
          <a:solidFill>
            <a:srgbClr val="FFF4E0"/>
          </a:solidFill>
          <a:ln w="9525">
            <a:solidFill>
              <a:srgbClr val="FF9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961888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A6690A"/>
                </a:solidFill>
                <a:latin typeface="Helvetica Neue"/>
              </a:rPr>
              <a:t>User-facing LLM  ·  chat + match explanations  ·  Groq Llama 3.3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0071E3"/>
                </a:solidFill>
                <a:latin typeface="Helvetica Neue"/>
              </a:rPr>
              <a:t>THE DESIGN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9144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 spc="-28">
                <a:solidFill>
                  <a:srgbClr val="1D1D1F"/>
                </a:solidFill>
                <a:latin typeface="Helvetica Neue"/>
              </a:rPr>
              <a:t>LLMs for language.</a:t>
            </a:r>
          </a:p>
          <a:p>
            <a:pPr algn="l">
              <a:lnSpc>
                <a:spcPct val="105000"/>
              </a:lnSpc>
            </a:pPr>
            <a:r>
              <a:rPr sz="4400" b="1" i="0" spc="-28">
                <a:solidFill>
                  <a:srgbClr val="1D1D1F"/>
                </a:solidFill>
                <a:latin typeface="Helvetica Neue"/>
              </a:rPr>
              <a:t>Rules for decisions.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 spc="150">
                <a:solidFill>
                  <a:srgbClr val="86868B"/>
                </a:solidFill>
                <a:latin typeface="Helvetica Neue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32918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150">
                <a:solidFill>
                  <a:srgbClr val="A6690A"/>
                </a:solidFill>
                <a:latin typeface="Helvetica Neue"/>
              </a:rPr>
              <a:t>LLM-only parser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32918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150">
                <a:solidFill>
                  <a:srgbClr val="0071E3"/>
                </a:solidFill>
                <a:latin typeface="Helvetica Neue"/>
              </a:rPr>
              <a:t>Hybrid (ours)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749039"/>
            <a:ext cx="9052560" cy="27432"/>
          </a:xfrm>
          <a:prstGeom prst="rect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886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E6E73"/>
                </a:solidFill>
                <a:latin typeface="Helvetica Neue"/>
              </a:rPr>
              <a:t>Runtime on 65k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3886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D1D1F"/>
                </a:solidFill>
                <a:latin typeface="Helvetica Neue"/>
              </a:rPr>
              <a:t>~50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886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D1D1F"/>
                </a:solidFill>
                <a:latin typeface="Helvetica Neue"/>
              </a:rPr>
              <a:t>86 seconds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297680"/>
            <a:ext cx="9052560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3434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E6E73"/>
                </a:solidFill>
                <a:latin typeface="Helvetica Neue"/>
              </a:rPr>
              <a:t>Cost to operate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43434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D1D1F"/>
                </a:solidFill>
                <a:latin typeface="Helvetica Neue"/>
              </a:rPr>
              <a:t>Compute or API $$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3434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D1D1F"/>
                </a:solidFill>
                <a:latin typeface="Helvetica Neue"/>
              </a:rPr>
              <a:t>$0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754880"/>
            <a:ext cx="9052560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8006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E6E73"/>
                </a:solidFill>
                <a:latin typeface="Helvetica Neue"/>
              </a:rPr>
              <a:t>Determinism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48006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D1D1F"/>
                </a:solidFill>
                <a:latin typeface="Helvetica Neue"/>
              </a:rPr>
              <a:t>No — drifts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8006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D1D1F"/>
                </a:solidFill>
                <a:latin typeface="Helvetica Neue"/>
              </a:rPr>
              <a:t>Yes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212080"/>
            <a:ext cx="9052560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2578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E6E73"/>
                </a:solidFill>
                <a:latin typeface="Helvetica Neue"/>
              </a:rPr>
              <a:t>Auditable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52578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D1D1F"/>
                </a:solidFill>
                <a:latin typeface="Helvetica Neue"/>
              </a:rPr>
              <a:t>Hard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2578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D1D1F"/>
                </a:solidFill>
                <a:latin typeface="Helvetica Neue"/>
              </a:rPr>
              <a:t>Trivial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669280"/>
            <a:ext cx="9052560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7150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E6E73"/>
                </a:solidFill>
                <a:latin typeface="Helvetica Neue"/>
              </a:rPr>
              <a:t>Language Q&amp;A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57150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D1D1F"/>
                </a:solidFill>
                <a:latin typeface="Helvetica Neue"/>
              </a:rPr>
              <a:t>N/A (batch only)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7150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D1D1F"/>
                </a:solidFill>
                <a:latin typeface="Helvetica Neue"/>
              </a:rPr>
              <a:t>Separate LLM layer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126480"/>
            <a:ext cx="9052560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2997FF"/>
                </a:solidFill>
                <a:latin typeface="Helvetica Neue"/>
              </a:rPr>
              <a:t>DEMO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9144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0" b="1" i="0" spc="-50">
                <a:solidFill>
                  <a:srgbClr val="FFFFFF"/>
                </a:solidFill>
                <a:latin typeface="Helvetica Neue"/>
              </a:rPr>
              <a:t>Let's see 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411480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1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0" y="43434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0" i="0">
                <a:solidFill>
                  <a:srgbClr val="FFFFFF"/>
                </a:solidFill>
                <a:latin typeface="JetBrains Mono"/>
              </a:rPr>
              <a:t>localhost:3000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5778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86868B"/>
                </a:solidFill>
                <a:latin typeface="Helvetica Neue"/>
              </a:rPr>
              <a:t>Demo flow: T2 Diabetes patient → Match → Trial detail → Explainer → Chat → Warfarin exclusion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0071E3"/>
                </a:solidFill>
                <a:latin typeface="Helvetica Neue"/>
              </a:rPr>
              <a:t>SEPARATION OF CONCERNS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 spc="-20">
                <a:solidFill>
                  <a:srgbClr val="1D1D1F"/>
                </a:solidFill>
                <a:latin typeface="Helvetica Neue"/>
              </a:rPr>
              <a:t>Three layers. Each does what it's best at.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743200"/>
            <a:ext cx="8686800" cy="100584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 w="9525">
            <a:solidFill>
              <a:srgbClr val="6E6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9260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2461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D1D1F"/>
                </a:solidFill>
                <a:latin typeface="Helvetica Neue"/>
              </a:rPr>
              <a:t>65,081 trials · 411k sites · static source of truth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868680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7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1148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0071E3"/>
                </a:solidFill>
                <a:latin typeface="Helvetica Neue"/>
              </a:rPr>
              <a:t>DETERMINISTIC MATCHING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4348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D1D1F"/>
                </a:solidFill>
                <a:latin typeface="Helvetica Neue"/>
              </a:rPr>
              <a:t>Age · gender · condition · medication · lab · proximity → weighted score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120640"/>
            <a:ext cx="8686800" cy="1005840"/>
          </a:xfrm>
          <a:prstGeom prst="roundRect">
            <a:avLst>
              <a:gd name="adj" fmla="val 8000"/>
            </a:avLst>
          </a:prstGeom>
          <a:solidFill>
            <a:srgbClr val="FFF4E0"/>
          </a:solidFill>
          <a:ln w="9525">
            <a:solidFill>
              <a:srgbClr val="FF9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3035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FF9F0A"/>
                </a:solidFill>
                <a:latin typeface="Helvetica Neue"/>
              </a:rPr>
              <a:t>LLM — USER-FACING LANGUAGE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62355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A6690A"/>
                </a:solidFill>
                <a:latin typeface="Helvetica Neue"/>
              </a:rPr>
              <a:t>Chat Q&amp;A · match explanations · plain-English narratives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0071E3"/>
                </a:solidFill>
                <a:latin typeface="Helvetica Neue"/>
              </a:rPr>
              <a:t>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9144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 spc="-25">
                <a:solidFill>
                  <a:srgbClr val="1D1D1F"/>
                </a:solidFill>
                <a:latin typeface="Helvetica Neue"/>
              </a:rPr>
              <a:t>Three principles.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651760"/>
            <a:ext cx="896112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71E3"/>
                </a:solidFill>
                <a:latin typeface="JetBrains Mono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834640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D1D1F"/>
                </a:solidFill>
                <a:latin typeface="Helvetica Neue"/>
              </a:rPr>
              <a:t>Show. Don't just tell.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3200400"/>
            <a:ext cx="7223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3D scroll storytelling on the landing page walks a patient through the matching story — chaos, library, scan, verdict. The product explains itself before anyone reads a button.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86200"/>
            <a:ext cx="896112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1148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71E3"/>
                </a:solidFill>
                <a:latin typeface="JetBrains Mon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69080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D1D1F"/>
                </a:solidFill>
                <a:latin typeface="Helvetica Neue"/>
              </a:rPr>
              <a:t>Every criterion visible.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434840"/>
            <a:ext cx="7223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No black-box match scores. If a trial ranks 94%, we show exactly which 6 of 6 criteria contributed, and the parsed requirement each was compared against. Transparency is a feature.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120640"/>
            <a:ext cx="896112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3492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71E3"/>
                </a:solidFill>
                <a:latin typeface="JetBrains Mono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5303520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D1D1F"/>
                </a:solidFill>
                <a:latin typeface="Helvetica Neue"/>
              </a:rPr>
              <a:t>Patients shouldn't need a dictionary.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5669279"/>
            <a:ext cx="7223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The chat agent and match explainer translate clinical jargon into plain English — always grounded in that specific trial's text, never hallucinating.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0071E3"/>
                </a:solidFill>
                <a:latin typeface="Helvetica Neue"/>
              </a:rPr>
              <a:t>LLM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9144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 spc="-25">
                <a:solidFill>
                  <a:srgbClr val="1D1D1F"/>
                </a:solidFill>
                <a:latin typeface="Helvetica Neue"/>
              </a:rPr>
              <a:t>Where only an LLM wins.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6E6E73"/>
                </a:solidFill>
                <a:latin typeface="Helvetica Neue"/>
              </a:rPr>
              <a:t>Not for matching. Not for scoring. Only for language the rule engine can't handle.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108960"/>
            <a:ext cx="283464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2834640" cy="109728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383279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Chat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8862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071E3"/>
                </a:solidFill>
                <a:latin typeface="JetBrains Mono"/>
              </a:rPr>
              <a:t>"Can I join if I'm on warfarin?"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4805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RAG over the trial's eligibility text. Grounds strictly in the published criteria. Refuses out-of-context questions.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3108960"/>
            <a:ext cx="283464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3108960"/>
            <a:ext cx="2834640" cy="109728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3383279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Match explainer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8862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071E3"/>
                </a:solidFill>
                <a:latin typeface="JetBrains Mono"/>
              </a:rPr>
              <a:t>"Explain in plain English."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44805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Takes deterministic verdicts, writes a 2-sentence narrative citing the exclusion by name — "your Warfarin is on the exclusion list."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3108960"/>
            <a:ext cx="283464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3108960"/>
            <a:ext cx="2834640" cy="109728"/>
          </a:xfrm>
          <a:prstGeom prst="rect">
            <a:avLst/>
          </a:prstGeom>
          <a:solidFill>
            <a:srgbClr val="86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59" y="3383279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Query expansion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59" y="38862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071E3"/>
                </a:solidFill>
                <a:latin typeface="JetBrains Mono"/>
              </a:rPr>
              <a:t>"heart problems" → MeSH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59" y="44805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Translates patient-lay terms into standard medical concepts. Planned — pipeline ready, not yet shipped.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0071E3"/>
                </a:solidFill>
                <a:latin typeface="Helvetica Neue"/>
              </a:rPr>
              <a:t>IN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9144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 spc="-25">
                <a:solidFill>
                  <a:srgbClr val="1D1D1F"/>
                </a:solidFill>
                <a:latin typeface="Helvetica Neue"/>
              </a:rPr>
              <a:t>What we shipped.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926080"/>
            <a:ext cx="28346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10896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 spc="-20">
                <a:solidFill>
                  <a:srgbClr val="0071E3"/>
                </a:solidFill>
                <a:latin typeface="JetBrains Mono"/>
              </a:rPr>
              <a:t>65,081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947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trials indexed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2926080"/>
            <a:ext cx="28346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39" y="310896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 spc="-20">
                <a:solidFill>
                  <a:srgbClr val="0071E3"/>
                </a:solidFill>
                <a:latin typeface="JetBrains Mono"/>
              </a:rPr>
              <a:t>411,042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7947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trial sites with lat/lng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926080"/>
            <a:ext cx="28346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310896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 spc="-20">
                <a:solidFill>
                  <a:srgbClr val="0071E3"/>
                </a:solidFill>
                <a:latin typeface="JetBrains Mono"/>
              </a:rPr>
              <a:t>21,191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37947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trials with parsed medication exclusions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343400"/>
            <a:ext cx="28346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5262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 spc="-20">
                <a:solidFill>
                  <a:srgbClr val="0071E3"/>
                </a:solidFill>
                <a:latin typeface="JetBrains Mono"/>
              </a:rPr>
              <a:t>19,062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20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trials with parsed lab thresholds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0440" y="4343400"/>
            <a:ext cx="28346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39" y="45262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 spc="-20">
                <a:solidFill>
                  <a:srgbClr val="0071E3"/>
                </a:solidFill>
                <a:latin typeface="JetBrains Mono"/>
              </a:rPr>
              <a:t>86 sec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52120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to parse the entire corpus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4343400"/>
            <a:ext cx="28346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45262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 spc="-20">
                <a:solidFill>
                  <a:srgbClr val="0071E3"/>
                </a:solidFill>
                <a:latin typeface="JetBrains Mono"/>
              </a:rPr>
              <a:t>$0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52120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ongoing cost to operate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7607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6E6E73"/>
                </a:solidFill>
                <a:latin typeface="Helvetica Neue"/>
              </a:rPr>
              <a:t>Zero accounts · zero tracking · zero analytics · zero telemetry.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0071E3"/>
                </a:solidFill>
                <a:latin typeface="Helvetica Neue"/>
              </a:rPr>
              <a:t>THE CORPUS, VISUALIZED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 spc="-20">
                <a:solidFill>
                  <a:srgbClr val="1D1D1F"/>
                </a:solidFill>
                <a:latin typeface="Helvetica Neue"/>
              </a:rPr>
              <a:t>What the agent is grounded in.</a:t>
            </a:r>
          </a:p>
        </p:txBody>
      </p:sp>
      <p:pic>
        <p:nvPicPr>
          <p:cNvPr id="4" name="Picture 3" descr="phase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0"/>
            <a:ext cx="6152939" cy="4114800"/>
          </a:xfrm>
          <a:prstGeom prst="rect">
            <a:avLst/>
          </a:prstGeom>
        </p:spPr>
      </p:pic>
      <p:pic>
        <p:nvPicPr>
          <p:cNvPr id="5" name="Picture 4" descr="top_condi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828800"/>
            <a:ext cx="7237162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636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86868B"/>
                </a:solidFill>
                <a:latin typeface="Helvetica Neue"/>
              </a:rPr>
              <a:t>Phase distribution across 65,081 actively recruiting trials  ·  top 10 conditions by MeSH tag 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0071E3"/>
                </a:solidFill>
                <a:latin typeface="Helvetica Neue"/>
              </a:rPr>
              <a:t>WHAT THE PARSER EXTRACTED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spc="-20">
                <a:solidFill>
                  <a:srgbClr val="1D1D1F"/>
                </a:solidFill>
                <a:latin typeface="Helvetica Neue"/>
              </a:rPr>
              <a:t>Structured criteria from free-text eligibility.</a:t>
            </a:r>
          </a:p>
        </p:txBody>
      </p:sp>
      <p:pic>
        <p:nvPicPr>
          <p:cNvPr id="4" name="Picture 3" descr="parser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37360"/>
            <a:ext cx="9144000" cy="5257800"/>
          </a:xfrm>
          <a:prstGeom prst="rect">
            <a:avLst/>
          </a:prstGeom>
        </p:spPr>
      </p:pic>
      <p:pic>
        <p:nvPicPr>
          <p:cNvPr id="5" name="Picture 4" descr="top_excluded_me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749039"/>
            <a:ext cx="9144000" cy="51153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0071E3"/>
                </a:solidFill>
                <a:latin typeface="Helvetica Neue"/>
              </a:rPr>
              <a:t>THE AGENTIC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 spc="-20">
                <a:solidFill>
                  <a:srgbClr val="1D1D1F"/>
                </a:solidFill>
                <a:latin typeface="Helvetica Neue"/>
              </a:rPr>
              <a:t>How the agent decides. How the funnel narrows.</a:t>
            </a:r>
          </a:p>
        </p:txBody>
      </p:sp>
      <p:pic>
        <p:nvPicPr>
          <p:cNvPr id="4" name="Picture 3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0"/>
            <a:ext cx="6851673" cy="4114800"/>
          </a:xfrm>
          <a:prstGeom prst="rect">
            <a:avLst/>
          </a:prstGeom>
        </p:spPr>
      </p:pic>
      <p:pic>
        <p:nvPicPr>
          <p:cNvPr id="5" name="Picture 4" descr="agent_deci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828800"/>
            <a:ext cx="6804212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636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86868B"/>
                </a:solidFill>
                <a:latin typeface="Helvetica Neue"/>
              </a:rPr>
              <a:t>Left: SQL pre-filter → scoring → top matches  ·  Right: chat agent grounded-refusal decision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FF9F0A"/>
                </a:solidFill>
                <a:latin typeface="Helvetica Neue"/>
              </a:rPr>
              <a:t>HONEST ABOUT WHAT'S NOT 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9144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 spc="-25">
                <a:solidFill>
                  <a:srgbClr val="1D1D1F"/>
                </a:solidFill>
                <a:latin typeface="Helvetica Neue"/>
              </a:rPr>
              <a:t>Limitations.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697479"/>
            <a:ext cx="137160" cy="137160"/>
          </a:xfrm>
          <a:prstGeom prst="roundRect">
            <a:avLst>
              <a:gd name="adj" fmla="val 8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5603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Research prototype.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260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Not a medical device. Final eligibility is the trial investigators' call.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20439"/>
            <a:ext cx="137160" cy="137160"/>
          </a:xfrm>
          <a:prstGeom prst="roundRect">
            <a:avLst>
              <a:gd name="adj" fmla="val 8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38327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Parser coverage is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490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~33% of trials have medication exclusions extracted, ~29% have lab thresholds. Unusual phrasings slip through.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43400"/>
            <a:ext cx="137160" cy="137160"/>
          </a:xfrm>
          <a:prstGeom prst="roundRect">
            <a:avLst>
              <a:gd name="adj" fmla="val 8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2062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No LLM fallback yet.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5720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Low-confidence rule-parsed trials could be re-parsed by an LLM. Schema is ready; we haven't run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166360"/>
            <a:ext cx="137160" cy="137160"/>
          </a:xfrm>
          <a:prstGeom prst="roundRect">
            <a:avLst>
              <a:gd name="adj" fmla="val 8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292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Formal evaluation pending.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3949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Qualitative spot-checks via CSV. No published F1 score against hand-labeled ground truth yet.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9144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 i="0" spc="-30">
                <a:solidFill>
                  <a:srgbClr val="FFFFFF"/>
                </a:solidFill>
                <a:latin typeface="Helvetica Neue"/>
              </a:rPr>
              <a:t>LLMs for language.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9144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 i="0" spc="-30">
                <a:solidFill>
                  <a:srgbClr val="2997FF"/>
                </a:solidFill>
                <a:latin typeface="Helvetica Neue"/>
              </a:rPr>
              <a:t>Rules for decisions.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4114800"/>
            <a:ext cx="548640" cy="36576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Helvetica Neue"/>
              </a:rPr>
              <a:t>CureMatch.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54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86868B"/>
                </a:solidFill>
                <a:latin typeface="Helvetica Neue"/>
              </a:rPr>
              <a:t>Thank you. Questions?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